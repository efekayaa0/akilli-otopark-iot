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9D0554-61F5-4596-9C3D-EBB814BD267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3ED7106-5D29-4717-A0D3-627C18B5BE0A}">
      <dgm:prSet/>
      <dgm:spPr/>
      <dgm:t>
        <a:bodyPr/>
        <a:lstStyle/>
        <a:p>
          <a:r>
            <a:rPr lang="tr-TR" b="1" i="0" baseline="0" dirty="0"/>
            <a:t>Slot-bazlı algılama</a:t>
          </a:r>
          <a:r>
            <a:rPr lang="tr-TR" b="0" i="0" baseline="0" dirty="0"/>
            <a:t> (ağırlık sensörü varsayımı)</a:t>
          </a:r>
          <a:endParaRPr lang="en-US" dirty="0"/>
        </a:p>
      </dgm:t>
    </dgm:pt>
    <dgm:pt modelId="{7D2BA13D-EB2D-4CF5-BCCC-CFBA0FE07A92}" type="parTrans" cxnId="{5C333E5C-D0B0-40D4-B0F1-B082F80D3EDD}">
      <dgm:prSet/>
      <dgm:spPr/>
      <dgm:t>
        <a:bodyPr/>
        <a:lstStyle/>
        <a:p>
          <a:endParaRPr lang="en-US"/>
        </a:p>
      </dgm:t>
    </dgm:pt>
    <dgm:pt modelId="{AE345FA1-E3E9-4BC9-B6A5-0E6C3466EFE1}" type="sibTrans" cxnId="{5C333E5C-D0B0-40D4-B0F1-B082F80D3EDD}">
      <dgm:prSet/>
      <dgm:spPr/>
      <dgm:t>
        <a:bodyPr/>
        <a:lstStyle/>
        <a:p>
          <a:endParaRPr lang="en-US"/>
        </a:p>
      </dgm:t>
    </dgm:pt>
    <dgm:pt modelId="{D0021B03-4F2B-48B4-ABBA-4E295EF35A73}">
      <dgm:prSet/>
      <dgm:spPr/>
      <dgm:t>
        <a:bodyPr/>
        <a:lstStyle/>
        <a:p>
          <a:r>
            <a:rPr lang="tr-TR" b="1" i="0" baseline="0"/>
            <a:t>Nearest-first</a:t>
          </a:r>
          <a:r>
            <a:rPr lang="tr-TR" b="0" i="0" baseline="0"/>
            <a:t> ile en yakın uygun yeri otomatik seçme</a:t>
          </a:r>
          <a:endParaRPr lang="en-US"/>
        </a:p>
      </dgm:t>
    </dgm:pt>
    <dgm:pt modelId="{5D0247E0-0EE7-4B63-B4AE-841143536262}" type="parTrans" cxnId="{F7BEBE4F-94C3-4032-8CD1-9681F6D71117}">
      <dgm:prSet/>
      <dgm:spPr/>
      <dgm:t>
        <a:bodyPr/>
        <a:lstStyle/>
        <a:p>
          <a:endParaRPr lang="en-US"/>
        </a:p>
      </dgm:t>
    </dgm:pt>
    <dgm:pt modelId="{4516832A-5859-4FE7-9301-A654385AAFCF}" type="sibTrans" cxnId="{F7BEBE4F-94C3-4032-8CD1-9681F6D71117}">
      <dgm:prSet/>
      <dgm:spPr/>
      <dgm:t>
        <a:bodyPr/>
        <a:lstStyle/>
        <a:p>
          <a:endParaRPr lang="en-US"/>
        </a:p>
      </dgm:t>
    </dgm:pt>
    <dgm:pt modelId="{00DE331D-61A0-4047-B37B-792AFD0D9DF0}">
      <dgm:prSet/>
      <dgm:spPr/>
      <dgm:t>
        <a:bodyPr/>
        <a:lstStyle/>
        <a:p>
          <a:r>
            <a:rPr lang="tr-TR" b="1" i="0" baseline="0"/>
            <a:t>L-şekilli</a:t>
          </a:r>
          <a:r>
            <a:rPr lang="tr-TR" b="0" i="0" baseline="0"/>
            <a:t> koridor tabanlı yönlendirme (SVG görselleştirme)</a:t>
          </a:r>
          <a:endParaRPr lang="en-US"/>
        </a:p>
      </dgm:t>
    </dgm:pt>
    <dgm:pt modelId="{B63D2053-DBB1-4E58-A884-8260683539E7}" type="parTrans" cxnId="{D4D74DF5-BAD9-4598-8326-47AC1AADBE03}">
      <dgm:prSet/>
      <dgm:spPr/>
      <dgm:t>
        <a:bodyPr/>
        <a:lstStyle/>
        <a:p>
          <a:endParaRPr lang="en-US"/>
        </a:p>
      </dgm:t>
    </dgm:pt>
    <dgm:pt modelId="{F33D2FB1-8305-4FFA-B68D-EA532C1072D3}" type="sibTrans" cxnId="{D4D74DF5-BAD9-4598-8326-47AC1AADBE03}">
      <dgm:prSet/>
      <dgm:spPr/>
      <dgm:t>
        <a:bodyPr/>
        <a:lstStyle/>
        <a:p>
          <a:endParaRPr lang="en-US"/>
        </a:p>
      </dgm:t>
    </dgm:pt>
    <dgm:pt modelId="{18D1F076-94F6-4935-9AAF-17B7E267F214}">
      <dgm:prSet/>
      <dgm:spPr/>
      <dgm:t>
        <a:bodyPr/>
        <a:lstStyle/>
        <a:p>
          <a:r>
            <a:rPr lang="tr-TR" b="1" i="0" baseline="0"/>
            <a:t>Gerçek zamanlı olay akışı + CSV</a:t>
          </a:r>
          <a:r>
            <a:rPr lang="tr-TR" b="0" i="0" baseline="0"/>
            <a:t> dışa aktarım, </a:t>
          </a:r>
          <a:r>
            <a:rPr lang="tr-TR" b="1" i="0" baseline="0"/>
            <a:t>Colab</a:t>
          </a:r>
          <a:r>
            <a:rPr lang="tr-TR" b="0" i="0" baseline="0"/>
            <a:t> uyumlu tek dosya prototip</a:t>
          </a:r>
          <a:endParaRPr lang="en-US"/>
        </a:p>
      </dgm:t>
    </dgm:pt>
    <dgm:pt modelId="{38DE326B-8C64-4E50-B4D9-3E3069CBE57C}" type="parTrans" cxnId="{DD14F10A-B60B-49ED-B49F-4EC10CF1C555}">
      <dgm:prSet/>
      <dgm:spPr/>
      <dgm:t>
        <a:bodyPr/>
        <a:lstStyle/>
        <a:p>
          <a:endParaRPr lang="en-US"/>
        </a:p>
      </dgm:t>
    </dgm:pt>
    <dgm:pt modelId="{4EE0E36A-FFC7-4614-83A7-2DB749929030}" type="sibTrans" cxnId="{DD14F10A-B60B-49ED-B49F-4EC10CF1C555}">
      <dgm:prSet/>
      <dgm:spPr/>
      <dgm:t>
        <a:bodyPr/>
        <a:lstStyle/>
        <a:p>
          <a:endParaRPr lang="en-US"/>
        </a:p>
      </dgm:t>
    </dgm:pt>
    <dgm:pt modelId="{1B987B59-833D-4CCF-9987-B98463530247}" type="pres">
      <dgm:prSet presAssocID="{9B9D0554-61F5-4596-9C3D-EBB814BD2677}" presName="root" presStyleCnt="0">
        <dgm:presLayoutVars>
          <dgm:dir/>
          <dgm:resizeHandles val="exact"/>
        </dgm:presLayoutVars>
      </dgm:prSet>
      <dgm:spPr/>
    </dgm:pt>
    <dgm:pt modelId="{6693D6AB-9467-459B-B3B1-840EC33F84B4}" type="pres">
      <dgm:prSet presAssocID="{9B9D0554-61F5-4596-9C3D-EBB814BD2677}" presName="container" presStyleCnt="0">
        <dgm:presLayoutVars>
          <dgm:dir/>
          <dgm:resizeHandles val="exact"/>
        </dgm:presLayoutVars>
      </dgm:prSet>
      <dgm:spPr/>
    </dgm:pt>
    <dgm:pt modelId="{63F679DF-D1C9-409C-97D5-28BAFCFAF45C}" type="pres">
      <dgm:prSet presAssocID="{B3ED7106-5D29-4717-A0D3-627C18B5BE0A}" presName="compNode" presStyleCnt="0"/>
      <dgm:spPr/>
    </dgm:pt>
    <dgm:pt modelId="{4EC71D4B-3B76-465E-B84A-9DCF8F93E11D}" type="pres">
      <dgm:prSet presAssocID="{B3ED7106-5D29-4717-A0D3-627C18B5BE0A}" presName="iconBgRect" presStyleLbl="bgShp" presStyleIdx="0" presStyleCnt="4"/>
      <dgm:spPr/>
    </dgm:pt>
    <dgm:pt modelId="{B6356331-A662-494F-A168-FED217707A55}" type="pres">
      <dgm:prSet presAssocID="{B3ED7106-5D29-4717-A0D3-627C18B5BE0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Ölçek"/>
        </a:ext>
      </dgm:extLst>
    </dgm:pt>
    <dgm:pt modelId="{9305FB10-09D8-489E-A41D-99D175C785D2}" type="pres">
      <dgm:prSet presAssocID="{B3ED7106-5D29-4717-A0D3-627C18B5BE0A}" presName="spaceRect" presStyleCnt="0"/>
      <dgm:spPr/>
    </dgm:pt>
    <dgm:pt modelId="{49EE93AF-D9A9-4ED0-85A3-CC4B3B260B71}" type="pres">
      <dgm:prSet presAssocID="{B3ED7106-5D29-4717-A0D3-627C18B5BE0A}" presName="textRect" presStyleLbl="revTx" presStyleIdx="0" presStyleCnt="4">
        <dgm:presLayoutVars>
          <dgm:chMax val="1"/>
          <dgm:chPref val="1"/>
        </dgm:presLayoutVars>
      </dgm:prSet>
      <dgm:spPr/>
    </dgm:pt>
    <dgm:pt modelId="{39D3F62A-6385-48CF-8C2C-15D3523A0F74}" type="pres">
      <dgm:prSet presAssocID="{AE345FA1-E3E9-4BC9-B6A5-0E6C3466EFE1}" presName="sibTrans" presStyleLbl="sibTrans2D1" presStyleIdx="0" presStyleCnt="0"/>
      <dgm:spPr/>
    </dgm:pt>
    <dgm:pt modelId="{FE492F21-F974-46C6-90E5-E794BF3F284F}" type="pres">
      <dgm:prSet presAssocID="{D0021B03-4F2B-48B4-ABBA-4E295EF35A73}" presName="compNode" presStyleCnt="0"/>
      <dgm:spPr/>
    </dgm:pt>
    <dgm:pt modelId="{9C195F67-7ED6-4C6E-ABC4-BA359DB503DE}" type="pres">
      <dgm:prSet presAssocID="{D0021B03-4F2B-48B4-ABBA-4E295EF35A73}" presName="iconBgRect" presStyleLbl="bgShp" presStyleIdx="1" presStyleCnt="4"/>
      <dgm:spPr/>
    </dgm:pt>
    <dgm:pt modelId="{9C90DBD1-E66A-4FA6-B171-B211C0E74E57}" type="pres">
      <dgm:prSet presAssocID="{D0021B03-4F2B-48B4-ABBA-4E295EF35A7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İşaretleyici"/>
        </a:ext>
      </dgm:extLst>
    </dgm:pt>
    <dgm:pt modelId="{AF498212-0559-4354-9C3C-6FA31F7F45E2}" type="pres">
      <dgm:prSet presAssocID="{D0021B03-4F2B-48B4-ABBA-4E295EF35A73}" presName="spaceRect" presStyleCnt="0"/>
      <dgm:spPr/>
    </dgm:pt>
    <dgm:pt modelId="{7A86FFFB-76E8-46B5-AECE-D35CB5489185}" type="pres">
      <dgm:prSet presAssocID="{D0021B03-4F2B-48B4-ABBA-4E295EF35A73}" presName="textRect" presStyleLbl="revTx" presStyleIdx="1" presStyleCnt="4">
        <dgm:presLayoutVars>
          <dgm:chMax val="1"/>
          <dgm:chPref val="1"/>
        </dgm:presLayoutVars>
      </dgm:prSet>
      <dgm:spPr/>
    </dgm:pt>
    <dgm:pt modelId="{8C350DD1-5D70-40AD-81BC-1D134EBBC242}" type="pres">
      <dgm:prSet presAssocID="{4516832A-5859-4FE7-9301-A654385AAFCF}" presName="sibTrans" presStyleLbl="sibTrans2D1" presStyleIdx="0" presStyleCnt="0"/>
      <dgm:spPr/>
    </dgm:pt>
    <dgm:pt modelId="{51CFCF1C-5228-4E3E-B11B-C657C14872CC}" type="pres">
      <dgm:prSet presAssocID="{00DE331D-61A0-4047-B37B-792AFD0D9DF0}" presName="compNode" presStyleCnt="0"/>
      <dgm:spPr/>
    </dgm:pt>
    <dgm:pt modelId="{3D7615BC-394F-40B7-8855-1A717CF4CCBB}" type="pres">
      <dgm:prSet presAssocID="{00DE331D-61A0-4047-B37B-792AFD0D9DF0}" presName="iconBgRect" presStyleLbl="bgShp" presStyleIdx="2" presStyleCnt="4"/>
      <dgm:spPr/>
    </dgm:pt>
    <dgm:pt modelId="{0E425975-84C2-4581-8588-1D1D5B0A007B}" type="pres">
      <dgm:prSet presAssocID="{00DE331D-61A0-4047-B37B-792AFD0D9DF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ğlı"/>
        </a:ext>
      </dgm:extLst>
    </dgm:pt>
    <dgm:pt modelId="{91BA4C9A-4043-4C2E-9250-33FBD16A0CF5}" type="pres">
      <dgm:prSet presAssocID="{00DE331D-61A0-4047-B37B-792AFD0D9DF0}" presName="spaceRect" presStyleCnt="0"/>
      <dgm:spPr/>
    </dgm:pt>
    <dgm:pt modelId="{4D64C376-F3E5-42B5-9745-B5E76937F965}" type="pres">
      <dgm:prSet presAssocID="{00DE331D-61A0-4047-B37B-792AFD0D9DF0}" presName="textRect" presStyleLbl="revTx" presStyleIdx="2" presStyleCnt="4">
        <dgm:presLayoutVars>
          <dgm:chMax val="1"/>
          <dgm:chPref val="1"/>
        </dgm:presLayoutVars>
      </dgm:prSet>
      <dgm:spPr/>
    </dgm:pt>
    <dgm:pt modelId="{6F77265E-0186-42F4-B31E-BDA5F4ADB891}" type="pres">
      <dgm:prSet presAssocID="{F33D2FB1-8305-4FFA-B68D-EA532C1072D3}" presName="sibTrans" presStyleLbl="sibTrans2D1" presStyleIdx="0" presStyleCnt="0"/>
      <dgm:spPr/>
    </dgm:pt>
    <dgm:pt modelId="{603DA24C-2B6B-4FA3-87BD-F99DD5AE844D}" type="pres">
      <dgm:prSet presAssocID="{18D1F076-94F6-4935-9AAF-17B7E267F214}" presName="compNode" presStyleCnt="0"/>
      <dgm:spPr/>
    </dgm:pt>
    <dgm:pt modelId="{2A3F137C-3699-4A18-AD2E-1CCEF801375A}" type="pres">
      <dgm:prSet presAssocID="{18D1F076-94F6-4935-9AAF-17B7E267F214}" presName="iconBgRect" presStyleLbl="bgShp" presStyleIdx="3" presStyleCnt="4"/>
      <dgm:spPr/>
    </dgm:pt>
    <dgm:pt modelId="{03C8AA92-2ADF-4603-BB1D-35A6F52508F4}" type="pres">
      <dgm:prSet presAssocID="{18D1F076-94F6-4935-9AAF-17B7E267F21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ullanıcı"/>
        </a:ext>
      </dgm:extLst>
    </dgm:pt>
    <dgm:pt modelId="{A8B14270-410C-4B7E-9F21-6F928BA3ACF0}" type="pres">
      <dgm:prSet presAssocID="{18D1F076-94F6-4935-9AAF-17B7E267F214}" presName="spaceRect" presStyleCnt="0"/>
      <dgm:spPr/>
    </dgm:pt>
    <dgm:pt modelId="{724ADC3B-819B-4A48-9DC1-05515320D2F0}" type="pres">
      <dgm:prSet presAssocID="{18D1F076-94F6-4935-9AAF-17B7E267F21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D14F10A-B60B-49ED-B49F-4EC10CF1C555}" srcId="{9B9D0554-61F5-4596-9C3D-EBB814BD2677}" destId="{18D1F076-94F6-4935-9AAF-17B7E267F214}" srcOrd="3" destOrd="0" parTransId="{38DE326B-8C64-4E50-B4D9-3E3069CBE57C}" sibTransId="{4EE0E36A-FFC7-4614-83A7-2DB749929030}"/>
    <dgm:cxn modelId="{FA189B16-A1C4-4707-A67D-285B7A87D943}" type="presOf" srcId="{00DE331D-61A0-4047-B37B-792AFD0D9DF0}" destId="{4D64C376-F3E5-42B5-9745-B5E76937F965}" srcOrd="0" destOrd="0" presId="urn:microsoft.com/office/officeart/2018/2/layout/IconCircleList"/>
    <dgm:cxn modelId="{F5B6412B-ED8A-4421-8404-E6FD0A13EC97}" type="presOf" srcId="{B3ED7106-5D29-4717-A0D3-627C18B5BE0A}" destId="{49EE93AF-D9A9-4ED0-85A3-CC4B3B260B71}" srcOrd="0" destOrd="0" presId="urn:microsoft.com/office/officeart/2018/2/layout/IconCircleList"/>
    <dgm:cxn modelId="{87FD6931-4FED-4E97-A27E-0E9215DBDB42}" type="presOf" srcId="{F33D2FB1-8305-4FFA-B68D-EA532C1072D3}" destId="{6F77265E-0186-42F4-B31E-BDA5F4ADB891}" srcOrd="0" destOrd="0" presId="urn:microsoft.com/office/officeart/2018/2/layout/IconCircleList"/>
    <dgm:cxn modelId="{A1088B38-1122-478D-8CBA-4A110C558E45}" type="presOf" srcId="{9B9D0554-61F5-4596-9C3D-EBB814BD2677}" destId="{1B987B59-833D-4CCF-9987-B98463530247}" srcOrd="0" destOrd="0" presId="urn:microsoft.com/office/officeart/2018/2/layout/IconCircleList"/>
    <dgm:cxn modelId="{5C333E5C-D0B0-40D4-B0F1-B082F80D3EDD}" srcId="{9B9D0554-61F5-4596-9C3D-EBB814BD2677}" destId="{B3ED7106-5D29-4717-A0D3-627C18B5BE0A}" srcOrd="0" destOrd="0" parTransId="{7D2BA13D-EB2D-4CF5-BCCC-CFBA0FE07A92}" sibTransId="{AE345FA1-E3E9-4BC9-B6A5-0E6C3466EFE1}"/>
    <dgm:cxn modelId="{5DD1D760-51EF-4751-A308-BD81515CC8EC}" type="presOf" srcId="{18D1F076-94F6-4935-9AAF-17B7E267F214}" destId="{724ADC3B-819B-4A48-9DC1-05515320D2F0}" srcOrd="0" destOrd="0" presId="urn:microsoft.com/office/officeart/2018/2/layout/IconCircleList"/>
    <dgm:cxn modelId="{F7BEBE4F-94C3-4032-8CD1-9681F6D71117}" srcId="{9B9D0554-61F5-4596-9C3D-EBB814BD2677}" destId="{D0021B03-4F2B-48B4-ABBA-4E295EF35A73}" srcOrd="1" destOrd="0" parTransId="{5D0247E0-0EE7-4B63-B4AE-841143536262}" sibTransId="{4516832A-5859-4FE7-9301-A654385AAFCF}"/>
    <dgm:cxn modelId="{5C092A8D-91A0-408D-A617-892C82467C44}" type="presOf" srcId="{D0021B03-4F2B-48B4-ABBA-4E295EF35A73}" destId="{7A86FFFB-76E8-46B5-AECE-D35CB5489185}" srcOrd="0" destOrd="0" presId="urn:microsoft.com/office/officeart/2018/2/layout/IconCircleList"/>
    <dgm:cxn modelId="{0EBC25C4-9C8D-4983-85AE-B5E7E18694F7}" type="presOf" srcId="{AE345FA1-E3E9-4BC9-B6A5-0E6C3466EFE1}" destId="{39D3F62A-6385-48CF-8C2C-15D3523A0F74}" srcOrd="0" destOrd="0" presId="urn:microsoft.com/office/officeart/2018/2/layout/IconCircleList"/>
    <dgm:cxn modelId="{182C03CF-4702-4056-AFE5-5AD070A43907}" type="presOf" srcId="{4516832A-5859-4FE7-9301-A654385AAFCF}" destId="{8C350DD1-5D70-40AD-81BC-1D134EBBC242}" srcOrd="0" destOrd="0" presId="urn:microsoft.com/office/officeart/2018/2/layout/IconCircleList"/>
    <dgm:cxn modelId="{D4D74DF5-BAD9-4598-8326-47AC1AADBE03}" srcId="{9B9D0554-61F5-4596-9C3D-EBB814BD2677}" destId="{00DE331D-61A0-4047-B37B-792AFD0D9DF0}" srcOrd="2" destOrd="0" parTransId="{B63D2053-DBB1-4E58-A884-8260683539E7}" sibTransId="{F33D2FB1-8305-4FFA-B68D-EA532C1072D3}"/>
    <dgm:cxn modelId="{249CFC90-101E-485F-8ED8-9D4E7170078D}" type="presParOf" srcId="{1B987B59-833D-4CCF-9987-B98463530247}" destId="{6693D6AB-9467-459B-B3B1-840EC33F84B4}" srcOrd="0" destOrd="0" presId="urn:microsoft.com/office/officeart/2018/2/layout/IconCircleList"/>
    <dgm:cxn modelId="{9EDCC3EA-2304-4E07-A65F-324AD1E24917}" type="presParOf" srcId="{6693D6AB-9467-459B-B3B1-840EC33F84B4}" destId="{63F679DF-D1C9-409C-97D5-28BAFCFAF45C}" srcOrd="0" destOrd="0" presId="urn:microsoft.com/office/officeart/2018/2/layout/IconCircleList"/>
    <dgm:cxn modelId="{2162C2E3-0DFC-4D5C-A86A-3D0243A0575B}" type="presParOf" srcId="{63F679DF-D1C9-409C-97D5-28BAFCFAF45C}" destId="{4EC71D4B-3B76-465E-B84A-9DCF8F93E11D}" srcOrd="0" destOrd="0" presId="urn:microsoft.com/office/officeart/2018/2/layout/IconCircleList"/>
    <dgm:cxn modelId="{1D30CA91-2C79-4DD9-99C0-F6AB2B9BD832}" type="presParOf" srcId="{63F679DF-D1C9-409C-97D5-28BAFCFAF45C}" destId="{B6356331-A662-494F-A168-FED217707A55}" srcOrd="1" destOrd="0" presId="urn:microsoft.com/office/officeart/2018/2/layout/IconCircleList"/>
    <dgm:cxn modelId="{4B02C6F5-A930-404E-942A-5FF3DAFA152D}" type="presParOf" srcId="{63F679DF-D1C9-409C-97D5-28BAFCFAF45C}" destId="{9305FB10-09D8-489E-A41D-99D175C785D2}" srcOrd="2" destOrd="0" presId="urn:microsoft.com/office/officeart/2018/2/layout/IconCircleList"/>
    <dgm:cxn modelId="{BEBC2457-AD85-4816-B5D2-AF0977032F6A}" type="presParOf" srcId="{63F679DF-D1C9-409C-97D5-28BAFCFAF45C}" destId="{49EE93AF-D9A9-4ED0-85A3-CC4B3B260B71}" srcOrd="3" destOrd="0" presId="urn:microsoft.com/office/officeart/2018/2/layout/IconCircleList"/>
    <dgm:cxn modelId="{31CB642E-8325-480C-B5F1-2CD4F6E7CAF5}" type="presParOf" srcId="{6693D6AB-9467-459B-B3B1-840EC33F84B4}" destId="{39D3F62A-6385-48CF-8C2C-15D3523A0F74}" srcOrd="1" destOrd="0" presId="urn:microsoft.com/office/officeart/2018/2/layout/IconCircleList"/>
    <dgm:cxn modelId="{298F1CCA-157A-4BA1-89B4-4A95EBD492A3}" type="presParOf" srcId="{6693D6AB-9467-459B-B3B1-840EC33F84B4}" destId="{FE492F21-F974-46C6-90E5-E794BF3F284F}" srcOrd="2" destOrd="0" presId="urn:microsoft.com/office/officeart/2018/2/layout/IconCircleList"/>
    <dgm:cxn modelId="{83DB2E50-5758-47C9-A93C-B7E3C737ABC6}" type="presParOf" srcId="{FE492F21-F974-46C6-90E5-E794BF3F284F}" destId="{9C195F67-7ED6-4C6E-ABC4-BA359DB503DE}" srcOrd="0" destOrd="0" presId="urn:microsoft.com/office/officeart/2018/2/layout/IconCircleList"/>
    <dgm:cxn modelId="{3E35389D-2DD7-45B0-8DFF-910819435253}" type="presParOf" srcId="{FE492F21-F974-46C6-90E5-E794BF3F284F}" destId="{9C90DBD1-E66A-4FA6-B171-B211C0E74E57}" srcOrd="1" destOrd="0" presId="urn:microsoft.com/office/officeart/2018/2/layout/IconCircleList"/>
    <dgm:cxn modelId="{42480B5F-2A43-49FE-B890-6A9001190095}" type="presParOf" srcId="{FE492F21-F974-46C6-90E5-E794BF3F284F}" destId="{AF498212-0559-4354-9C3C-6FA31F7F45E2}" srcOrd="2" destOrd="0" presId="urn:microsoft.com/office/officeart/2018/2/layout/IconCircleList"/>
    <dgm:cxn modelId="{1EA40A88-AAD8-4E15-8E56-2D38E3146528}" type="presParOf" srcId="{FE492F21-F974-46C6-90E5-E794BF3F284F}" destId="{7A86FFFB-76E8-46B5-AECE-D35CB5489185}" srcOrd="3" destOrd="0" presId="urn:microsoft.com/office/officeart/2018/2/layout/IconCircleList"/>
    <dgm:cxn modelId="{FBD0B35E-B4CC-4E2B-BB55-D3888BC5383D}" type="presParOf" srcId="{6693D6AB-9467-459B-B3B1-840EC33F84B4}" destId="{8C350DD1-5D70-40AD-81BC-1D134EBBC242}" srcOrd="3" destOrd="0" presId="urn:microsoft.com/office/officeart/2018/2/layout/IconCircleList"/>
    <dgm:cxn modelId="{8CC8906D-AA1F-4FCE-A972-AB70F83BFF76}" type="presParOf" srcId="{6693D6AB-9467-459B-B3B1-840EC33F84B4}" destId="{51CFCF1C-5228-4E3E-B11B-C657C14872CC}" srcOrd="4" destOrd="0" presId="urn:microsoft.com/office/officeart/2018/2/layout/IconCircleList"/>
    <dgm:cxn modelId="{C1E41D6F-BE0C-4BD8-B9A2-74509E115703}" type="presParOf" srcId="{51CFCF1C-5228-4E3E-B11B-C657C14872CC}" destId="{3D7615BC-394F-40B7-8855-1A717CF4CCBB}" srcOrd="0" destOrd="0" presId="urn:microsoft.com/office/officeart/2018/2/layout/IconCircleList"/>
    <dgm:cxn modelId="{1545223F-796E-4CF5-9050-8B89E7C4B059}" type="presParOf" srcId="{51CFCF1C-5228-4E3E-B11B-C657C14872CC}" destId="{0E425975-84C2-4581-8588-1D1D5B0A007B}" srcOrd="1" destOrd="0" presId="urn:microsoft.com/office/officeart/2018/2/layout/IconCircleList"/>
    <dgm:cxn modelId="{558D0652-DB41-4B4F-8127-857224FBBDEA}" type="presParOf" srcId="{51CFCF1C-5228-4E3E-B11B-C657C14872CC}" destId="{91BA4C9A-4043-4C2E-9250-33FBD16A0CF5}" srcOrd="2" destOrd="0" presId="urn:microsoft.com/office/officeart/2018/2/layout/IconCircleList"/>
    <dgm:cxn modelId="{4364BC92-59CB-43AD-95E8-F59BA7839969}" type="presParOf" srcId="{51CFCF1C-5228-4E3E-B11B-C657C14872CC}" destId="{4D64C376-F3E5-42B5-9745-B5E76937F965}" srcOrd="3" destOrd="0" presId="urn:microsoft.com/office/officeart/2018/2/layout/IconCircleList"/>
    <dgm:cxn modelId="{561316EF-5F76-4ED1-A431-440224350954}" type="presParOf" srcId="{6693D6AB-9467-459B-B3B1-840EC33F84B4}" destId="{6F77265E-0186-42F4-B31E-BDA5F4ADB891}" srcOrd="5" destOrd="0" presId="urn:microsoft.com/office/officeart/2018/2/layout/IconCircleList"/>
    <dgm:cxn modelId="{CC7EB4C6-AB1F-4ADE-8097-B5BAF24FEAD4}" type="presParOf" srcId="{6693D6AB-9467-459B-B3B1-840EC33F84B4}" destId="{603DA24C-2B6B-4FA3-87BD-F99DD5AE844D}" srcOrd="6" destOrd="0" presId="urn:microsoft.com/office/officeart/2018/2/layout/IconCircleList"/>
    <dgm:cxn modelId="{6022D26B-513F-4284-8A13-70CBF966EFBF}" type="presParOf" srcId="{603DA24C-2B6B-4FA3-87BD-F99DD5AE844D}" destId="{2A3F137C-3699-4A18-AD2E-1CCEF801375A}" srcOrd="0" destOrd="0" presId="urn:microsoft.com/office/officeart/2018/2/layout/IconCircleList"/>
    <dgm:cxn modelId="{84B58A04-D09B-438A-A9D7-AA929552204C}" type="presParOf" srcId="{603DA24C-2B6B-4FA3-87BD-F99DD5AE844D}" destId="{03C8AA92-2ADF-4603-BB1D-35A6F52508F4}" srcOrd="1" destOrd="0" presId="urn:microsoft.com/office/officeart/2018/2/layout/IconCircleList"/>
    <dgm:cxn modelId="{87B4FE7C-0C4A-4278-9379-FDF7141CFFD2}" type="presParOf" srcId="{603DA24C-2B6B-4FA3-87BD-F99DD5AE844D}" destId="{A8B14270-410C-4B7E-9F21-6F928BA3ACF0}" srcOrd="2" destOrd="0" presId="urn:microsoft.com/office/officeart/2018/2/layout/IconCircleList"/>
    <dgm:cxn modelId="{09B1FDDF-AC90-401A-9B77-492EC6B0DA9A}" type="presParOf" srcId="{603DA24C-2B6B-4FA3-87BD-F99DD5AE844D}" destId="{724ADC3B-819B-4A48-9DC1-05515320D2F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74AD46-C04A-40F2-8D9B-F889E14C3F63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9FA83CF-0628-4822-AA49-C24DA6968261}">
      <dgm:prSet/>
      <dgm:spPr/>
      <dgm:t>
        <a:bodyPr/>
        <a:lstStyle/>
        <a:p>
          <a:r>
            <a:rPr lang="tr-TR" b="1" i="0" baseline="0"/>
            <a:t>Ön Yüz (HTML–CSS–JS):</a:t>
          </a:r>
          <a:r>
            <a:rPr lang="tr-TR" b="0" i="0" baseline="0"/>
            <a:t> olay üretimi, doluluk görselleştirme, rota çizimi</a:t>
          </a:r>
          <a:endParaRPr lang="en-US"/>
        </a:p>
      </dgm:t>
    </dgm:pt>
    <dgm:pt modelId="{1690EFEA-F7D9-4073-BA19-6C4E5B64BCE2}" type="parTrans" cxnId="{35725FA2-F8F6-4C80-8BBF-242D4640BFD8}">
      <dgm:prSet/>
      <dgm:spPr/>
      <dgm:t>
        <a:bodyPr/>
        <a:lstStyle/>
        <a:p>
          <a:endParaRPr lang="en-US"/>
        </a:p>
      </dgm:t>
    </dgm:pt>
    <dgm:pt modelId="{67715CF9-EC59-4603-974B-A870C70CF314}" type="sibTrans" cxnId="{35725FA2-F8F6-4C80-8BBF-242D4640BFD8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1ED34D5E-B72A-4F93-B354-32E603899B8E}">
      <dgm:prSet/>
      <dgm:spPr/>
      <dgm:t>
        <a:bodyPr/>
        <a:lstStyle/>
        <a:p>
          <a:r>
            <a:rPr lang="tr-TR" b="1" i="0" baseline="0" dirty="0"/>
            <a:t>Simülasyon Katmanı:</a:t>
          </a:r>
          <a:r>
            <a:rPr lang="tr-TR" b="0" i="0" baseline="0" dirty="0"/>
            <a:t> doluluk oranına göre uyarlamalı giriş/çıkış üretimi</a:t>
          </a:r>
          <a:endParaRPr lang="en-US" dirty="0"/>
        </a:p>
      </dgm:t>
    </dgm:pt>
    <dgm:pt modelId="{213BE776-E24E-4A4B-A33A-C871952D36AE}" type="parTrans" cxnId="{1ABDCDB5-F948-4E07-ADF9-DA0A9D8599E5}">
      <dgm:prSet/>
      <dgm:spPr/>
      <dgm:t>
        <a:bodyPr/>
        <a:lstStyle/>
        <a:p>
          <a:endParaRPr lang="en-US"/>
        </a:p>
      </dgm:t>
    </dgm:pt>
    <dgm:pt modelId="{1824AF6C-931C-48AC-9C3D-E52803C057BF}" type="sibTrans" cxnId="{1ABDCDB5-F948-4E07-ADF9-DA0A9D8599E5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74949E3D-1D65-43F6-BCB9-46A2AB7E40B4}">
      <dgm:prSet/>
      <dgm:spPr/>
      <dgm:t>
        <a:bodyPr/>
        <a:lstStyle/>
        <a:p>
          <a:r>
            <a:rPr lang="tr-TR" b="1" i="0" baseline="0"/>
            <a:t>Saha Uyarlama (Önerilen):</a:t>
          </a:r>
          <a:r>
            <a:rPr lang="tr-TR" b="0" i="0" baseline="0"/>
            <a:t> ESP32/HX711, </a:t>
          </a:r>
          <a:r>
            <a:rPr lang="tr-TR" b="1" i="0" baseline="0"/>
            <a:t>LoRaWAN/NB-IoT</a:t>
          </a:r>
          <a:r>
            <a:rPr lang="tr-TR" b="0" i="0" baseline="0"/>
            <a:t>, </a:t>
          </a:r>
          <a:r>
            <a:rPr lang="tr-TR" b="1" i="0" baseline="0"/>
            <a:t>Redis</a:t>
          </a:r>
          <a:r>
            <a:rPr lang="tr-TR" b="0" i="0" baseline="0"/>
            <a:t>, </a:t>
          </a:r>
          <a:r>
            <a:rPr lang="tr-TR" b="1" i="0" baseline="0"/>
            <a:t>MQTT/HTTP</a:t>
          </a:r>
          <a:r>
            <a:rPr lang="tr-TR" b="0" i="0" baseline="0"/>
            <a:t>, </a:t>
          </a:r>
          <a:r>
            <a:rPr lang="tr-TR" b="1" i="0" baseline="0"/>
            <a:t>REST/WebSocket</a:t>
          </a:r>
          <a:endParaRPr lang="en-US"/>
        </a:p>
      </dgm:t>
    </dgm:pt>
    <dgm:pt modelId="{3A7C7EAD-2724-4EF5-93D5-4F08A5066DD6}" type="parTrans" cxnId="{DDA0C4EB-0319-4236-9C73-6947BC1698A8}">
      <dgm:prSet/>
      <dgm:spPr/>
      <dgm:t>
        <a:bodyPr/>
        <a:lstStyle/>
        <a:p>
          <a:endParaRPr lang="en-US"/>
        </a:p>
      </dgm:t>
    </dgm:pt>
    <dgm:pt modelId="{FCF07418-A236-4E8C-A8F8-F851D4A34F19}" type="sibTrans" cxnId="{DDA0C4EB-0319-4236-9C73-6947BC1698A8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B0E6CA5F-0984-4F9D-A98E-9882E8BA9F7E}" type="pres">
      <dgm:prSet presAssocID="{AF74AD46-C04A-40F2-8D9B-F889E14C3F63}" presName="Name0" presStyleCnt="0">
        <dgm:presLayoutVars>
          <dgm:animLvl val="lvl"/>
          <dgm:resizeHandles val="exact"/>
        </dgm:presLayoutVars>
      </dgm:prSet>
      <dgm:spPr/>
    </dgm:pt>
    <dgm:pt modelId="{3BDE476B-4B92-4C1C-A904-C1F6FA13FF89}" type="pres">
      <dgm:prSet presAssocID="{39FA83CF-0628-4822-AA49-C24DA6968261}" presName="compositeNode" presStyleCnt="0">
        <dgm:presLayoutVars>
          <dgm:bulletEnabled val="1"/>
        </dgm:presLayoutVars>
      </dgm:prSet>
      <dgm:spPr/>
    </dgm:pt>
    <dgm:pt modelId="{43D1A21D-6BA9-43DF-9458-A0758864CF6F}" type="pres">
      <dgm:prSet presAssocID="{39FA83CF-0628-4822-AA49-C24DA6968261}" presName="bgRect" presStyleLbl="alignNode1" presStyleIdx="0" presStyleCnt="3"/>
      <dgm:spPr/>
    </dgm:pt>
    <dgm:pt modelId="{037265D5-CA6B-42F1-A09C-5B8EBD17E293}" type="pres">
      <dgm:prSet presAssocID="{67715CF9-EC59-4603-974B-A870C70CF314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9A49505A-3F9E-4FEF-AFFF-77F7763DEC97}" type="pres">
      <dgm:prSet presAssocID="{39FA83CF-0628-4822-AA49-C24DA6968261}" presName="nodeRect" presStyleLbl="alignNode1" presStyleIdx="0" presStyleCnt="3">
        <dgm:presLayoutVars>
          <dgm:bulletEnabled val="1"/>
        </dgm:presLayoutVars>
      </dgm:prSet>
      <dgm:spPr/>
    </dgm:pt>
    <dgm:pt modelId="{323B1962-DBF1-40FB-B953-EA75BC312F47}" type="pres">
      <dgm:prSet presAssocID="{67715CF9-EC59-4603-974B-A870C70CF314}" presName="sibTrans" presStyleCnt="0"/>
      <dgm:spPr/>
    </dgm:pt>
    <dgm:pt modelId="{EF020452-DB7B-4778-9386-60330C18F94E}" type="pres">
      <dgm:prSet presAssocID="{1ED34D5E-B72A-4F93-B354-32E603899B8E}" presName="compositeNode" presStyleCnt="0">
        <dgm:presLayoutVars>
          <dgm:bulletEnabled val="1"/>
        </dgm:presLayoutVars>
      </dgm:prSet>
      <dgm:spPr/>
    </dgm:pt>
    <dgm:pt modelId="{A2EEE668-FBF9-4DDE-96C7-70286902BDFA}" type="pres">
      <dgm:prSet presAssocID="{1ED34D5E-B72A-4F93-B354-32E603899B8E}" presName="bgRect" presStyleLbl="alignNode1" presStyleIdx="1" presStyleCnt="3"/>
      <dgm:spPr/>
    </dgm:pt>
    <dgm:pt modelId="{09AF7B33-4B80-4D79-9536-6660563E76D9}" type="pres">
      <dgm:prSet presAssocID="{1824AF6C-931C-48AC-9C3D-E52803C057BF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2F83B43E-7599-4FEF-BA2F-7D057536B7A8}" type="pres">
      <dgm:prSet presAssocID="{1ED34D5E-B72A-4F93-B354-32E603899B8E}" presName="nodeRect" presStyleLbl="alignNode1" presStyleIdx="1" presStyleCnt="3">
        <dgm:presLayoutVars>
          <dgm:bulletEnabled val="1"/>
        </dgm:presLayoutVars>
      </dgm:prSet>
      <dgm:spPr/>
    </dgm:pt>
    <dgm:pt modelId="{8DEA51A6-23D5-4E06-994D-866351BB369D}" type="pres">
      <dgm:prSet presAssocID="{1824AF6C-931C-48AC-9C3D-E52803C057BF}" presName="sibTrans" presStyleCnt="0"/>
      <dgm:spPr/>
    </dgm:pt>
    <dgm:pt modelId="{9EB7D150-F1AC-4230-9C51-7949CFA17227}" type="pres">
      <dgm:prSet presAssocID="{74949E3D-1D65-43F6-BCB9-46A2AB7E40B4}" presName="compositeNode" presStyleCnt="0">
        <dgm:presLayoutVars>
          <dgm:bulletEnabled val="1"/>
        </dgm:presLayoutVars>
      </dgm:prSet>
      <dgm:spPr/>
    </dgm:pt>
    <dgm:pt modelId="{D5E0D006-3F20-4FA4-81CF-60F484852954}" type="pres">
      <dgm:prSet presAssocID="{74949E3D-1D65-43F6-BCB9-46A2AB7E40B4}" presName="bgRect" presStyleLbl="alignNode1" presStyleIdx="2" presStyleCnt="3"/>
      <dgm:spPr/>
    </dgm:pt>
    <dgm:pt modelId="{5743659E-EFD4-456C-A2D4-BD7AB09FDE05}" type="pres">
      <dgm:prSet presAssocID="{FCF07418-A236-4E8C-A8F8-F851D4A34F19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C6934864-4FBC-4061-8479-B59D5B4DCBDA}" type="pres">
      <dgm:prSet presAssocID="{74949E3D-1D65-43F6-BCB9-46A2AB7E40B4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AB066924-67F1-4A72-8C79-EFAFCD904E38}" type="presOf" srcId="{74949E3D-1D65-43F6-BCB9-46A2AB7E40B4}" destId="{C6934864-4FBC-4061-8479-B59D5B4DCBDA}" srcOrd="1" destOrd="0" presId="urn:microsoft.com/office/officeart/2016/7/layout/LinearBlockProcessNumbered"/>
    <dgm:cxn modelId="{AF38F73A-D1DC-470D-9F80-3D55498D0547}" type="presOf" srcId="{1ED34D5E-B72A-4F93-B354-32E603899B8E}" destId="{A2EEE668-FBF9-4DDE-96C7-70286902BDFA}" srcOrd="0" destOrd="0" presId="urn:microsoft.com/office/officeart/2016/7/layout/LinearBlockProcessNumbered"/>
    <dgm:cxn modelId="{AF315947-847A-459D-9BF5-1D58EAE51AAF}" type="presOf" srcId="{1824AF6C-931C-48AC-9C3D-E52803C057BF}" destId="{09AF7B33-4B80-4D79-9536-6660563E76D9}" srcOrd="0" destOrd="0" presId="urn:microsoft.com/office/officeart/2016/7/layout/LinearBlockProcessNumbered"/>
    <dgm:cxn modelId="{08C77A9E-48E1-4B2A-B2DA-4EA308539865}" type="presOf" srcId="{1ED34D5E-B72A-4F93-B354-32E603899B8E}" destId="{2F83B43E-7599-4FEF-BA2F-7D057536B7A8}" srcOrd="1" destOrd="0" presId="urn:microsoft.com/office/officeart/2016/7/layout/LinearBlockProcessNumbered"/>
    <dgm:cxn modelId="{35725FA2-F8F6-4C80-8BBF-242D4640BFD8}" srcId="{AF74AD46-C04A-40F2-8D9B-F889E14C3F63}" destId="{39FA83CF-0628-4822-AA49-C24DA6968261}" srcOrd="0" destOrd="0" parTransId="{1690EFEA-F7D9-4073-BA19-6C4E5B64BCE2}" sibTransId="{67715CF9-EC59-4603-974B-A870C70CF314}"/>
    <dgm:cxn modelId="{DEAC60A3-6129-427B-88D9-2F2BF7FB2234}" type="presOf" srcId="{39FA83CF-0628-4822-AA49-C24DA6968261}" destId="{9A49505A-3F9E-4FEF-AFFF-77F7763DEC97}" srcOrd="1" destOrd="0" presId="urn:microsoft.com/office/officeart/2016/7/layout/LinearBlockProcessNumbered"/>
    <dgm:cxn modelId="{07A4B8A8-90CC-4BBE-83F0-6616955F8D2C}" type="presOf" srcId="{67715CF9-EC59-4603-974B-A870C70CF314}" destId="{037265D5-CA6B-42F1-A09C-5B8EBD17E293}" srcOrd="0" destOrd="0" presId="urn:microsoft.com/office/officeart/2016/7/layout/LinearBlockProcessNumbered"/>
    <dgm:cxn modelId="{CC7A0FAF-3120-4E9A-BAC9-E049D6EE4562}" type="presOf" srcId="{39FA83CF-0628-4822-AA49-C24DA6968261}" destId="{43D1A21D-6BA9-43DF-9458-A0758864CF6F}" srcOrd="0" destOrd="0" presId="urn:microsoft.com/office/officeart/2016/7/layout/LinearBlockProcessNumbered"/>
    <dgm:cxn modelId="{1ABDCDB5-F948-4E07-ADF9-DA0A9D8599E5}" srcId="{AF74AD46-C04A-40F2-8D9B-F889E14C3F63}" destId="{1ED34D5E-B72A-4F93-B354-32E603899B8E}" srcOrd="1" destOrd="0" parTransId="{213BE776-E24E-4A4B-A33A-C871952D36AE}" sibTransId="{1824AF6C-931C-48AC-9C3D-E52803C057BF}"/>
    <dgm:cxn modelId="{CBE6A7C0-BCCF-47C7-9F12-B72DCB682C87}" type="presOf" srcId="{AF74AD46-C04A-40F2-8D9B-F889E14C3F63}" destId="{B0E6CA5F-0984-4F9D-A98E-9882E8BA9F7E}" srcOrd="0" destOrd="0" presId="urn:microsoft.com/office/officeart/2016/7/layout/LinearBlockProcessNumbered"/>
    <dgm:cxn modelId="{239CF3C1-096A-4C2D-B8AC-BA3D9FBF2278}" type="presOf" srcId="{FCF07418-A236-4E8C-A8F8-F851D4A34F19}" destId="{5743659E-EFD4-456C-A2D4-BD7AB09FDE05}" srcOrd="0" destOrd="0" presId="urn:microsoft.com/office/officeart/2016/7/layout/LinearBlockProcessNumbered"/>
    <dgm:cxn modelId="{5B745DD7-F499-4240-BFC8-B604925A73CF}" type="presOf" srcId="{74949E3D-1D65-43F6-BCB9-46A2AB7E40B4}" destId="{D5E0D006-3F20-4FA4-81CF-60F484852954}" srcOrd="0" destOrd="0" presId="urn:microsoft.com/office/officeart/2016/7/layout/LinearBlockProcessNumbered"/>
    <dgm:cxn modelId="{DDA0C4EB-0319-4236-9C73-6947BC1698A8}" srcId="{AF74AD46-C04A-40F2-8D9B-F889E14C3F63}" destId="{74949E3D-1D65-43F6-BCB9-46A2AB7E40B4}" srcOrd="2" destOrd="0" parTransId="{3A7C7EAD-2724-4EF5-93D5-4F08A5066DD6}" sibTransId="{FCF07418-A236-4E8C-A8F8-F851D4A34F19}"/>
    <dgm:cxn modelId="{11C166B0-F602-4061-AD55-852F54953067}" type="presParOf" srcId="{B0E6CA5F-0984-4F9D-A98E-9882E8BA9F7E}" destId="{3BDE476B-4B92-4C1C-A904-C1F6FA13FF89}" srcOrd="0" destOrd="0" presId="urn:microsoft.com/office/officeart/2016/7/layout/LinearBlockProcessNumbered"/>
    <dgm:cxn modelId="{F298B03A-3B05-4E53-8F6C-43C0803DFDA5}" type="presParOf" srcId="{3BDE476B-4B92-4C1C-A904-C1F6FA13FF89}" destId="{43D1A21D-6BA9-43DF-9458-A0758864CF6F}" srcOrd="0" destOrd="0" presId="urn:microsoft.com/office/officeart/2016/7/layout/LinearBlockProcessNumbered"/>
    <dgm:cxn modelId="{CD352DB2-882D-4C05-96A0-CB25B6B5D197}" type="presParOf" srcId="{3BDE476B-4B92-4C1C-A904-C1F6FA13FF89}" destId="{037265D5-CA6B-42F1-A09C-5B8EBD17E293}" srcOrd="1" destOrd="0" presId="urn:microsoft.com/office/officeart/2016/7/layout/LinearBlockProcessNumbered"/>
    <dgm:cxn modelId="{43BC8FB8-314E-40F5-A325-064DB2954A61}" type="presParOf" srcId="{3BDE476B-4B92-4C1C-A904-C1F6FA13FF89}" destId="{9A49505A-3F9E-4FEF-AFFF-77F7763DEC97}" srcOrd="2" destOrd="0" presId="urn:microsoft.com/office/officeart/2016/7/layout/LinearBlockProcessNumbered"/>
    <dgm:cxn modelId="{F80BC7A1-CE85-435D-87BB-25FAD7DA05D9}" type="presParOf" srcId="{B0E6CA5F-0984-4F9D-A98E-9882E8BA9F7E}" destId="{323B1962-DBF1-40FB-B953-EA75BC312F47}" srcOrd="1" destOrd="0" presId="urn:microsoft.com/office/officeart/2016/7/layout/LinearBlockProcessNumbered"/>
    <dgm:cxn modelId="{8B7E65E1-EC45-47FB-AF47-AACF5923845F}" type="presParOf" srcId="{B0E6CA5F-0984-4F9D-A98E-9882E8BA9F7E}" destId="{EF020452-DB7B-4778-9386-60330C18F94E}" srcOrd="2" destOrd="0" presId="urn:microsoft.com/office/officeart/2016/7/layout/LinearBlockProcessNumbered"/>
    <dgm:cxn modelId="{2499BA50-3289-4B32-AEF7-E9CC073616BB}" type="presParOf" srcId="{EF020452-DB7B-4778-9386-60330C18F94E}" destId="{A2EEE668-FBF9-4DDE-96C7-70286902BDFA}" srcOrd="0" destOrd="0" presId="urn:microsoft.com/office/officeart/2016/7/layout/LinearBlockProcessNumbered"/>
    <dgm:cxn modelId="{9600CE5F-E542-40C1-B232-88210AF89E42}" type="presParOf" srcId="{EF020452-DB7B-4778-9386-60330C18F94E}" destId="{09AF7B33-4B80-4D79-9536-6660563E76D9}" srcOrd="1" destOrd="0" presId="urn:microsoft.com/office/officeart/2016/7/layout/LinearBlockProcessNumbered"/>
    <dgm:cxn modelId="{984700D1-85C7-4EBE-AFAE-3EFE37345140}" type="presParOf" srcId="{EF020452-DB7B-4778-9386-60330C18F94E}" destId="{2F83B43E-7599-4FEF-BA2F-7D057536B7A8}" srcOrd="2" destOrd="0" presId="urn:microsoft.com/office/officeart/2016/7/layout/LinearBlockProcessNumbered"/>
    <dgm:cxn modelId="{8662B372-C771-4EB6-A9A7-B8F652425412}" type="presParOf" srcId="{B0E6CA5F-0984-4F9D-A98E-9882E8BA9F7E}" destId="{8DEA51A6-23D5-4E06-994D-866351BB369D}" srcOrd="3" destOrd="0" presId="urn:microsoft.com/office/officeart/2016/7/layout/LinearBlockProcessNumbered"/>
    <dgm:cxn modelId="{33075E6E-63BC-4E7A-BAC7-5B90F7925CD5}" type="presParOf" srcId="{B0E6CA5F-0984-4F9D-A98E-9882E8BA9F7E}" destId="{9EB7D150-F1AC-4230-9C51-7949CFA17227}" srcOrd="4" destOrd="0" presId="urn:microsoft.com/office/officeart/2016/7/layout/LinearBlockProcessNumbered"/>
    <dgm:cxn modelId="{9222327D-3152-432A-A4A6-9159C42F1FBA}" type="presParOf" srcId="{9EB7D150-F1AC-4230-9C51-7949CFA17227}" destId="{D5E0D006-3F20-4FA4-81CF-60F484852954}" srcOrd="0" destOrd="0" presId="urn:microsoft.com/office/officeart/2016/7/layout/LinearBlockProcessNumbered"/>
    <dgm:cxn modelId="{0A8FE43A-5475-4C27-8570-07D7815EBD82}" type="presParOf" srcId="{9EB7D150-F1AC-4230-9C51-7949CFA17227}" destId="{5743659E-EFD4-456C-A2D4-BD7AB09FDE05}" srcOrd="1" destOrd="0" presId="urn:microsoft.com/office/officeart/2016/7/layout/LinearBlockProcessNumbered"/>
    <dgm:cxn modelId="{4F80FE1F-4EEC-407F-9BBA-60A0B66ECA87}" type="presParOf" srcId="{9EB7D150-F1AC-4230-9C51-7949CFA17227}" destId="{C6934864-4FBC-4061-8479-B59D5B4DCBDA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C71D4B-3B76-465E-B84A-9DCF8F93E11D}">
      <dsp:nvSpPr>
        <dsp:cNvPr id="0" name=""/>
        <dsp:cNvSpPr/>
      </dsp:nvSpPr>
      <dsp:spPr>
        <a:xfrm>
          <a:off x="275965" y="182871"/>
          <a:ext cx="1368756" cy="136875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356331-A662-494F-A168-FED217707A55}">
      <dsp:nvSpPr>
        <dsp:cNvPr id="0" name=""/>
        <dsp:cNvSpPr/>
      </dsp:nvSpPr>
      <dsp:spPr>
        <a:xfrm>
          <a:off x="563404" y="470310"/>
          <a:ext cx="793878" cy="7938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EE93AF-D9A9-4ED0-85A3-CC4B3B260B71}">
      <dsp:nvSpPr>
        <dsp:cNvPr id="0" name=""/>
        <dsp:cNvSpPr/>
      </dsp:nvSpPr>
      <dsp:spPr>
        <a:xfrm>
          <a:off x="1938026" y="182871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b="1" i="0" kern="1200" baseline="0" dirty="0"/>
            <a:t>Slot-bazlı algılama</a:t>
          </a:r>
          <a:r>
            <a:rPr lang="tr-TR" sz="2400" b="0" i="0" kern="1200" baseline="0" dirty="0"/>
            <a:t> (ağırlık sensörü varsayımı)</a:t>
          </a:r>
          <a:endParaRPr lang="en-US" sz="2400" kern="1200" dirty="0"/>
        </a:p>
      </dsp:txBody>
      <dsp:txXfrm>
        <a:off x="1938026" y="182871"/>
        <a:ext cx="3226354" cy="1368756"/>
      </dsp:txXfrm>
    </dsp:sp>
    <dsp:sp modelId="{9C195F67-7ED6-4C6E-ABC4-BA359DB503DE}">
      <dsp:nvSpPr>
        <dsp:cNvPr id="0" name=""/>
        <dsp:cNvSpPr/>
      </dsp:nvSpPr>
      <dsp:spPr>
        <a:xfrm>
          <a:off x="5726548" y="182871"/>
          <a:ext cx="1368756" cy="136875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0DBD1-E66A-4FA6-B171-B211C0E74E57}">
      <dsp:nvSpPr>
        <dsp:cNvPr id="0" name=""/>
        <dsp:cNvSpPr/>
      </dsp:nvSpPr>
      <dsp:spPr>
        <a:xfrm>
          <a:off x="6013987" y="470310"/>
          <a:ext cx="793878" cy="7938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86FFFB-76E8-46B5-AECE-D35CB5489185}">
      <dsp:nvSpPr>
        <dsp:cNvPr id="0" name=""/>
        <dsp:cNvSpPr/>
      </dsp:nvSpPr>
      <dsp:spPr>
        <a:xfrm>
          <a:off x="7388609" y="182871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b="1" i="0" kern="1200" baseline="0"/>
            <a:t>Nearest-first</a:t>
          </a:r>
          <a:r>
            <a:rPr lang="tr-TR" sz="2400" b="0" i="0" kern="1200" baseline="0"/>
            <a:t> ile en yakın uygun yeri otomatik seçme</a:t>
          </a:r>
          <a:endParaRPr lang="en-US" sz="2400" kern="1200"/>
        </a:p>
      </dsp:txBody>
      <dsp:txXfrm>
        <a:off x="7388609" y="182871"/>
        <a:ext cx="3226354" cy="1368756"/>
      </dsp:txXfrm>
    </dsp:sp>
    <dsp:sp modelId="{3D7615BC-394F-40B7-8855-1A717CF4CCBB}">
      <dsp:nvSpPr>
        <dsp:cNvPr id="0" name=""/>
        <dsp:cNvSpPr/>
      </dsp:nvSpPr>
      <dsp:spPr>
        <a:xfrm>
          <a:off x="275965" y="2187234"/>
          <a:ext cx="1368756" cy="136875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425975-84C2-4581-8588-1D1D5B0A007B}">
      <dsp:nvSpPr>
        <dsp:cNvPr id="0" name=""/>
        <dsp:cNvSpPr/>
      </dsp:nvSpPr>
      <dsp:spPr>
        <a:xfrm>
          <a:off x="563404" y="2474673"/>
          <a:ext cx="793878" cy="7938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4C376-F3E5-42B5-9745-B5E76937F965}">
      <dsp:nvSpPr>
        <dsp:cNvPr id="0" name=""/>
        <dsp:cNvSpPr/>
      </dsp:nvSpPr>
      <dsp:spPr>
        <a:xfrm>
          <a:off x="1938026" y="2187234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b="1" i="0" kern="1200" baseline="0"/>
            <a:t>L-şekilli</a:t>
          </a:r>
          <a:r>
            <a:rPr lang="tr-TR" sz="2400" b="0" i="0" kern="1200" baseline="0"/>
            <a:t> koridor tabanlı yönlendirme (SVG görselleştirme)</a:t>
          </a:r>
          <a:endParaRPr lang="en-US" sz="2400" kern="1200"/>
        </a:p>
      </dsp:txBody>
      <dsp:txXfrm>
        <a:off x="1938026" y="2187234"/>
        <a:ext cx="3226354" cy="1368756"/>
      </dsp:txXfrm>
    </dsp:sp>
    <dsp:sp modelId="{2A3F137C-3699-4A18-AD2E-1CCEF801375A}">
      <dsp:nvSpPr>
        <dsp:cNvPr id="0" name=""/>
        <dsp:cNvSpPr/>
      </dsp:nvSpPr>
      <dsp:spPr>
        <a:xfrm>
          <a:off x="5726548" y="2187234"/>
          <a:ext cx="1368756" cy="136875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C8AA92-2ADF-4603-BB1D-35A6F52508F4}">
      <dsp:nvSpPr>
        <dsp:cNvPr id="0" name=""/>
        <dsp:cNvSpPr/>
      </dsp:nvSpPr>
      <dsp:spPr>
        <a:xfrm>
          <a:off x="6013987" y="2474673"/>
          <a:ext cx="793878" cy="7938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4ADC3B-819B-4A48-9DC1-05515320D2F0}">
      <dsp:nvSpPr>
        <dsp:cNvPr id="0" name=""/>
        <dsp:cNvSpPr/>
      </dsp:nvSpPr>
      <dsp:spPr>
        <a:xfrm>
          <a:off x="7388609" y="2187234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b="1" i="0" kern="1200" baseline="0"/>
            <a:t>Gerçek zamanlı olay akışı + CSV</a:t>
          </a:r>
          <a:r>
            <a:rPr lang="tr-TR" sz="2400" b="0" i="0" kern="1200" baseline="0"/>
            <a:t> dışa aktarım, </a:t>
          </a:r>
          <a:r>
            <a:rPr lang="tr-TR" sz="2400" b="1" i="0" kern="1200" baseline="0"/>
            <a:t>Colab</a:t>
          </a:r>
          <a:r>
            <a:rPr lang="tr-TR" sz="2400" b="0" i="0" kern="1200" baseline="0"/>
            <a:t> uyumlu tek dosya prototip</a:t>
          </a:r>
          <a:endParaRPr lang="en-US" sz="2400" kern="1200"/>
        </a:p>
      </dsp:txBody>
      <dsp:txXfrm>
        <a:off x="7388609" y="2187234"/>
        <a:ext cx="3226354" cy="13687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D1A21D-6BA9-43DF-9458-A0758864CF6F}">
      <dsp:nvSpPr>
        <dsp:cNvPr id="0" name=""/>
        <dsp:cNvSpPr/>
      </dsp:nvSpPr>
      <dsp:spPr>
        <a:xfrm>
          <a:off x="850" y="0"/>
          <a:ext cx="3445958" cy="37388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0" rIns="34038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b="1" i="0" kern="1200" baseline="0"/>
            <a:t>Ön Yüz (HTML–CSS–JS):</a:t>
          </a:r>
          <a:r>
            <a:rPr lang="tr-TR" sz="2300" b="0" i="0" kern="1200" baseline="0"/>
            <a:t> olay üretimi, doluluk görselleştirme, rota çizimi</a:t>
          </a:r>
          <a:endParaRPr lang="en-US" sz="2300" kern="1200"/>
        </a:p>
      </dsp:txBody>
      <dsp:txXfrm>
        <a:off x="850" y="1495545"/>
        <a:ext cx="3445958" cy="2243317"/>
      </dsp:txXfrm>
    </dsp:sp>
    <dsp:sp modelId="{037265D5-CA6B-42F1-A09C-5B8EBD17E293}">
      <dsp:nvSpPr>
        <dsp:cNvPr id="0" name=""/>
        <dsp:cNvSpPr/>
      </dsp:nvSpPr>
      <dsp:spPr>
        <a:xfrm>
          <a:off x="850" y="0"/>
          <a:ext cx="3445958" cy="14955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165100" rIns="34038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0" y="0"/>
        <a:ext cx="3445958" cy="1495545"/>
      </dsp:txXfrm>
    </dsp:sp>
    <dsp:sp modelId="{A2EEE668-FBF9-4DDE-96C7-70286902BDFA}">
      <dsp:nvSpPr>
        <dsp:cNvPr id="0" name=""/>
        <dsp:cNvSpPr/>
      </dsp:nvSpPr>
      <dsp:spPr>
        <a:xfrm>
          <a:off x="3722485" y="0"/>
          <a:ext cx="3445958" cy="373886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0" rIns="34038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b="1" i="0" kern="1200" baseline="0" dirty="0"/>
            <a:t>Simülasyon Katmanı:</a:t>
          </a:r>
          <a:r>
            <a:rPr lang="tr-TR" sz="2300" b="0" i="0" kern="1200" baseline="0" dirty="0"/>
            <a:t> doluluk oranına göre uyarlamalı giriş/çıkış üretimi</a:t>
          </a:r>
          <a:endParaRPr lang="en-US" sz="2300" kern="1200" dirty="0"/>
        </a:p>
      </dsp:txBody>
      <dsp:txXfrm>
        <a:off x="3722485" y="1495545"/>
        <a:ext cx="3445958" cy="2243317"/>
      </dsp:txXfrm>
    </dsp:sp>
    <dsp:sp modelId="{09AF7B33-4B80-4D79-9536-6660563E76D9}">
      <dsp:nvSpPr>
        <dsp:cNvPr id="0" name=""/>
        <dsp:cNvSpPr/>
      </dsp:nvSpPr>
      <dsp:spPr>
        <a:xfrm>
          <a:off x="3722485" y="0"/>
          <a:ext cx="3445958" cy="14955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165100" rIns="34038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22485" y="0"/>
        <a:ext cx="3445958" cy="1495545"/>
      </dsp:txXfrm>
    </dsp:sp>
    <dsp:sp modelId="{D5E0D006-3F20-4FA4-81CF-60F484852954}">
      <dsp:nvSpPr>
        <dsp:cNvPr id="0" name=""/>
        <dsp:cNvSpPr/>
      </dsp:nvSpPr>
      <dsp:spPr>
        <a:xfrm>
          <a:off x="7444120" y="0"/>
          <a:ext cx="3445958" cy="373886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0" rIns="34038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b="1" i="0" kern="1200" baseline="0"/>
            <a:t>Saha Uyarlama (Önerilen):</a:t>
          </a:r>
          <a:r>
            <a:rPr lang="tr-TR" sz="2300" b="0" i="0" kern="1200" baseline="0"/>
            <a:t> ESP32/HX711, </a:t>
          </a:r>
          <a:r>
            <a:rPr lang="tr-TR" sz="2300" b="1" i="0" kern="1200" baseline="0"/>
            <a:t>LoRaWAN/NB-IoT</a:t>
          </a:r>
          <a:r>
            <a:rPr lang="tr-TR" sz="2300" b="0" i="0" kern="1200" baseline="0"/>
            <a:t>, </a:t>
          </a:r>
          <a:r>
            <a:rPr lang="tr-TR" sz="2300" b="1" i="0" kern="1200" baseline="0"/>
            <a:t>Redis</a:t>
          </a:r>
          <a:r>
            <a:rPr lang="tr-TR" sz="2300" b="0" i="0" kern="1200" baseline="0"/>
            <a:t>, </a:t>
          </a:r>
          <a:r>
            <a:rPr lang="tr-TR" sz="2300" b="1" i="0" kern="1200" baseline="0"/>
            <a:t>MQTT/HTTP</a:t>
          </a:r>
          <a:r>
            <a:rPr lang="tr-TR" sz="2300" b="0" i="0" kern="1200" baseline="0"/>
            <a:t>, </a:t>
          </a:r>
          <a:r>
            <a:rPr lang="tr-TR" sz="2300" b="1" i="0" kern="1200" baseline="0"/>
            <a:t>REST/WebSocket</a:t>
          </a:r>
          <a:endParaRPr lang="en-US" sz="2300" kern="1200"/>
        </a:p>
      </dsp:txBody>
      <dsp:txXfrm>
        <a:off x="7444120" y="1495545"/>
        <a:ext cx="3445958" cy="2243317"/>
      </dsp:txXfrm>
    </dsp:sp>
    <dsp:sp modelId="{5743659E-EFD4-456C-A2D4-BD7AB09FDE05}">
      <dsp:nvSpPr>
        <dsp:cNvPr id="0" name=""/>
        <dsp:cNvSpPr/>
      </dsp:nvSpPr>
      <dsp:spPr>
        <a:xfrm>
          <a:off x="7444120" y="0"/>
          <a:ext cx="3445958" cy="14955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165100" rIns="34038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44120" y="0"/>
        <a:ext cx="3445958" cy="14955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865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7284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1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90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4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17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3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15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751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151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3" descr="Yolda Skid işaretlerine sahip Park lotu kulvarları">
            <a:extLst>
              <a:ext uri="{FF2B5EF4-FFF2-40B4-BE49-F238E27FC236}">
                <a16:creationId xmlns:a16="http://schemas.microsoft.com/office/drawing/2014/main" id="{999229BF-C1B8-2C40-5F6E-C2EA83FE8D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15732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FDCFD598-664F-B8F3-FB14-929CCF121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2695660"/>
            <a:ext cx="4805680" cy="1757050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tr-TR" sz="4000" dirty="0">
                <a:solidFill>
                  <a:srgbClr val="FFFFFF"/>
                </a:solidFill>
              </a:rPr>
              <a:t>Efe Otopark Sistemleri: </a:t>
            </a:r>
            <a:br>
              <a:rPr lang="tr-TR" sz="4000" dirty="0">
                <a:solidFill>
                  <a:srgbClr val="FFFFFF"/>
                </a:solidFill>
              </a:rPr>
            </a:br>
            <a:r>
              <a:rPr lang="tr-TR" sz="4000" dirty="0">
                <a:solidFill>
                  <a:srgbClr val="FFFFFF"/>
                </a:solidFill>
              </a:rPr>
              <a:t>Sensörlü Akıllı Otopark Prototipi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6BBE39A-8286-6541-F5C5-C075EEFF4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805680" cy="1104721"/>
          </a:xfrm>
        </p:spPr>
        <p:txBody>
          <a:bodyPr anchor="t">
            <a:normAutofit/>
          </a:bodyPr>
          <a:lstStyle/>
          <a:p>
            <a:r>
              <a:rPr lang="tr-TR" dirty="0">
                <a:solidFill>
                  <a:srgbClr val="FFFFFF"/>
                </a:solidFill>
              </a:rPr>
              <a:t>Hazırlayan: </a:t>
            </a:r>
            <a:r>
              <a:rPr lang="tr-TR" dirty="0" err="1">
                <a:solidFill>
                  <a:srgbClr val="FFFFFF"/>
                </a:solidFill>
              </a:rPr>
              <a:t>mustafa</a:t>
            </a:r>
            <a:r>
              <a:rPr lang="tr-TR" dirty="0">
                <a:solidFill>
                  <a:srgbClr val="FFFFFF"/>
                </a:solidFill>
              </a:rPr>
              <a:t> efe kaya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1854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DA8021B-E41F-3A7F-65A7-103E6E078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400" y="997527"/>
            <a:ext cx="4053018" cy="87191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Etki</a:t>
            </a:r>
            <a:b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Çok sayıda küçük siyah raptiyenin önünde bir adet büyük kırmızı raptiye">
            <a:extLst>
              <a:ext uri="{FF2B5EF4-FFF2-40B4-BE49-F238E27FC236}">
                <a16:creationId xmlns:a16="http://schemas.microsoft.com/office/drawing/2014/main" id="{BF7CEF67-9F63-A689-BCB1-1A2E934584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20" r="4520" b="1"/>
          <a:stretch>
            <a:fillRect/>
          </a:stretch>
        </p:blipFill>
        <p:spPr>
          <a:xfrm>
            <a:off x="5203396" y="660405"/>
            <a:ext cx="6988603" cy="5608635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215128" y="6274446"/>
            <a:ext cx="697687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>
            <a:extLst>
              <a:ext uri="{FF2B5EF4-FFF2-40B4-BE49-F238E27FC236}">
                <a16:creationId xmlns:a16="http://schemas.microsoft.com/office/drawing/2014/main" id="{97AA70AA-1625-BF01-CF0B-622459028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200" y="2187449"/>
            <a:ext cx="462741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Park yeri arama 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10–20 dk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şehir içi trafiğin 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~%30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’una kadar katkı.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Yakıt tüketimi, karbon salımı, zaman kaybı, stres…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Geleneksel otoparklarda gerçek zamanlı 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boş/dolu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görünürlüğü eksik.</a:t>
            </a:r>
          </a:p>
        </p:txBody>
      </p:sp>
    </p:spTree>
    <p:extLst>
      <p:ext uri="{BB962C8B-B14F-4D97-AF65-F5344CB8AC3E}">
        <p14:creationId xmlns:p14="http://schemas.microsoft.com/office/powerpoint/2010/main" val="2073277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04CBCAA-DC31-875F-677A-CF3E31967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tr-TR" dirty="0"/>
              <a:t>Çözüm Özeti ve Katkılar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92760AA9-D310-52E9-CA2E-9B5F99B3AE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8851189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504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A257DFE-57C8-1F11-1369-CB598CC95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tr-TR" dirty="0"/>
              <a:t>Sistem Mimarisi (3 Katman)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18A76897-F1B1-C9BF-2E89-21D81DF092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0402673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8945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28BA4BB-C940-D625-C027-E914FB0AB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tr-TR" dirty="0"/>
              <a:t>Simülasyon Topolojisi ve Dinamikler</a:t>
            </a:r>
          </a:p>
        </p:txBody>
      </p:sp>
      <p:pic>
        <p:nvPicPr>
          <p:cNvPr id="6" name="Resim 5" descr="metin, ekran görüntüsü, yazılım, multimedya yazılımı içeren bir resim">
            <a:extLst>
              <a:ext uri="{FF2B5EF4-FFF2-40B4-BE49-F238E27FC236}">
                <a16:creationId xmlns:a16="http://schemas.microsoft.com/office/drawing/2014/main" id="{E0AA093B-1623-7D2F-3AC0-7E7A20D9A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7" b="5308"/>
          <a:stretch>
            <a:fillRect/>
          </a:stretch>
        </p:blipFill>
        <p:spPr>
          <a:xfrm>
            <a:off x="713232" y="2341506"/>
            <a:ext cx="5579413" cy="2714286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8C8590B-B730-1953-5410-22004CAA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tr-TR" dirty="0"/>
              <a:t>4×5 slot ızgara; orta sütun ana koridor, satırlar arası geçiş koridorları</a:t>
            </a:r>
          </a:p>
          <a:p>
            <a:r>
              <a:rPr lang="tr-TR" dirty="0"/>
              <a:t>Zaman çözünürlüğü 1 sn; olay aralığı 0.8–1.6 sn</a:t>
            </a:r>
          </a:p>
          <a:p>
            <a:r>
              <a:rPr lang="tr-TR" dirty="0"/>
              <a:t>En yakın boş alan ve L-şekilli rota üretimi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153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2E7F6F6-7789-913E-16DE-93C70BEC8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tr-TR" dirty="0"/>
              <a:t>Veri Modeli ve Olay Şeması</a:t>
            </a:r>
          </a:p>
        </p:txBody>
      </p:sp>
      <p:pic>
        <p:nvPicPr>
          <p:cNvPr id="6" name="Resim 5" descr="metin, elektronik donanım, ekran görüntüsü, yazılım içeren bir resim">
            <a:extLst>
              <a:ext uri="{FF2B5EF4-FFF2-40B4-BE49-F238E27FC236}">
                <a16:creationId xmlns:a16="http://schemas.microsoft.com/office/drawing/2014/main" id="{D82BE6A7-BFA3-4D72-3392-225FCB1AC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23" b="8549"/>
          <a:stretch>
            <a:fillRect/>
          </a:stretch>
        </p:blipFill>
        <p:spPr>
          <a:xfrm>
            <a:off x="713232" y="2265554"/>
            <a:ext cx="5677736" cy="3422016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31564FF-E45F-CF19-89F1-207DE15C1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tr-TR" dirty="0"/>
              <a:t>Kayıt alanları: </a:t>
            </a:r>
            <a:r>
              <a:rPr lang="tr-TR" dirty="0" err="1"/>
              <a:t>timestamp</a:t>
            </a:r>
            <a:r>
              <a:rPr lang="tr-TR" dirty="0"/>
              <a:t>, </a:t>
            </a:r>
            <a:r>
              <a:rPr lang="tr-TR" dirty="0" err="1"/>
              <a:t>event_type</a:t>
            </a:r>
            <a:r>
              <a:rPr lang="tr-TR" dirty="0"/>
              <a:t>, </a:t>
            </a:r>
            <a:r>
              <a:rPr lang="tr-TR" dirty="0" err="1"/>
              <a:t>spot_id</a:t>
            </a:r>
            <a:r>
              <a:rPr lang="tr-TR" dirty="0"/>
              <a:t>, </a:t>
            </a:r>
            <a:r>
              <a:rPr lang="tr-TR" dirty="0" err="1"/>
              <a:t>plate</a:t>
            </a:r>
            <a:r>
              <a:rPr lang="tr-TR" dirty="0"/>
              <a:t>, </a:t>
            </a:r>
            <a:r>
              <a:rPr lang="tr-TR" dirty="0" err="1"/>
              <a:t>weight_t</a:t>
            </a:r>
            <a:r>
              <a:rPr lang="tr-TR" dirty="0"/>
              <a:t>, </a:t>
            </a:r>
            <a:r>
              <a:rPr lang="tr-TR" dirty="0" err="1"/>
              <a:t>gate</a:t>
            </a:r>
            <a:r>
              <a:rPr lang="tr-TR" dirty="0"/>
              <a:t>, </a:t>
            </a:r>
            <a:r>
              <a:rPr lang="tr-TR" dirty="0" err="1"/>
              <a:t>route_blocks</a:t>
            </a:r>
            <a:r>
              <a:rPr lang="tr-TR" dirty="0"/>
              <a:t>, </a:t>
            </a:r>
            <a:r>
              <a:rPr lang="tr-TR" dirty="0" err="1"/>
              <a:t>route_distance_m</a:t>
            </a:r>
            <a:endParaRPr lang="tr-TR" dirty="0"/>
          </a:p>
          <a:p>
            <a:r>
              <a:rPr lang="tr-TR" dirty="0" err="1"/>
              <a:t>route_distance_m</a:t>
            </a:r>
            <a:r>
              <a:rPr lang="tr-TR" dirty="0"/>
              <a:t> = </a:t>
            </a:r>
            <a:r>
              <a:rPr lang="tr-TR" dirty="0" err="1"/>
              <a:t>route_blocks</a:t>
            </a:r>
            <a:r>
              <a:rPr lang="tr-TR" dirty="0"/>
              <a:t> × METERS_PER_BLOCK</a:t>
            </a:r>
          </a:p>
          <a:p>
            <a:r>
              <a:rPr lang="tr-TR" dirty="0"/>
              <a:t>Örnek: “07:00:05 | in | spot 3 | </a:t>
            </a:r>
            <a:r>
              <a:rPr lang="tr-TR" dirty="0" err="1"/>
              <a:t>north</a:t>
            </a:r>
            <a:r>
              <a:rPr lang="tr-TR" dirty="0"/>
              <a:t> | </a:t>
            </a:r>
            <a:r>
              <a:rPr lang="tr-TR" dirty="0" err="1"/>
              <a:t>blocks</a:t>
            </a:r>
            <a:r>
              <a:rPr lang="tr-TR" dirty="0"/>
              <a:t>=3 | 1500 m”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405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FB93462-141B-59AD-A5F6-9D72E163C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 dirty="0"/>
              <a:t>Yer Atama — Nearest-First </a:t>
            </a:r>
            <a:r>
              <a:rPr lang="en-US"/>
              <a:t>ve</a:t>
            </a:r>
            <a:r>
              <a:rPr lang="en-US" dirty="0"/>
              <a:t> </a:t>
            </a:r>
            <a:r>
              <a:rPr lang="en-US"/>
              <a:t>Formülasyon</a:t>
            </a:r>
            <a:endParaRPr lang="tr-TR" dirty="0"/>
          </a:p>
        </p:txBody>
      </p:sp>
      <p:pic>
        <p:nvPicPr>
          <p:cNvPr id="6" name="Resim 5" descr="ekran görüntüsü, metin, multimedya yazılımı, yazılım içeren bir resim">
            <a:extLst>
              <a:ext uri="{FF2B5EF4-FFF2-40B4-BE49-F238E27FC236}">
                <a16:creationId xmlns:a16="http://schemas.microsoft.com/office/drawing/2014/main" id="{9F34B410-40D3-1168-627E-D56C24ABD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0" b="5432"/>
          <a:stretch>
            <a:fillRect/>
          </a:stretch>
        </p:blipFill>
        <p:spPr>
          <a:xfrm>
            <a:off x="713232" y="2413603"/>
            <a:ext cx="5599078" cy="2697394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6074693-AA40-795B-A691-9DF9FE84B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tr-TR" dirty="0"/>
              <a:t>Kısıt: Rota sadece koridorlardan geçer</a:t>
            </a:r>
          </a:p>
          <a:p>
            <a:r>
              <a:rPr lang="tr-TR" dirty="0"/>
              <a:t>Maliyet: Dikey blok + yatay blok</a:t>
            </a:r>
          </a:p>
          <a:p>
            <a:r>
              <a:rPr lang="tr-TR" dirty="0"/>
              <a:t>Mesafe: (dikey + yatay) × METERS_PER_BLOCK</a:t>
            </a:r>
          </a:p>
          <a:p>
            <a:r>
              <a:rPr lang="tr-TR" dirty="0"/>
              <a:t>Eşitlikte kural: küçük numaralı slotu seç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963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5E67F67-3E76-71DE-AC78-E1F9F56B2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tr-TR" dirty="0"/>
              <a:t>Akış (</a:t>
            </a:r>
            <a:r>
              <a:rPr lang="tr-TR"/>
              <a:t>Pseudocode</a:t>
            </a:r>
            <a:r>
              <a:rPr lang="tr-TR" dirty="0"/>
              <a:t>)</a:t>
            </a:r>
          </a:p>
        </p:txBody>
      </p:sp>
      <p:pic>
        <p:nvPicPr>
          <p:cNvPr id="6" name="Resim 5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49819AC-4888-578A-BBA6-641B43402E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2256287"/>
            <a:ext cx="4805698" cy="3760459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18E6D15-727E-222F-B981-04DECFBD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tr-TR" dirty="0"/>
              <a:t>Zaman adımında giriş/çıkış olasılığını hesapla</a:t>
            </a:r>
          </a:p>
          <a:p>
            <a:r>
              <a:rPr lang="tr-TR" dirty="0"/>
              <a:t>Boş slotlar arasından en yakınını seç</a:t>
            </a:r>
          </a:p>
          <a:p>
            <a:r>
              <a:rPr lang="tr-TR" dirty="0"/>
              <a:t>Olayı kaydet, görselleştirmeyi güncelle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966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0" name="Rectangle 819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B9982A7-B1D4-BE9E-FE07-3BB2FCE1D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tr-TR" dirty="0"/>
              <a:t>Deney Düzeneği</a:t>
            </a:r>
          </a:p>
        </p:txBody>
      </p:sp>
      <p:pic>
        <p:nvPicPr>
          <p:cNvPr id="8195" name="Picture 3" descr="Smart Parking: Smart Parking with IoT 2023 - Cyber Snowden">
            <a:extLst>
              <a:ext uri="{FF2B5EF4-FFF2-40B4-BE49-F238E27FC236}">
                <a16:creationId xmlns:a16="http://schemas.microsoft.com/office/drawing/2014/main" id="{1A14FF4B-FD3C-26F0-1C76-198EB8588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256287"/>
            <a:ext cx="5204787" cy="376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8D884C5-9C98-8E65-F60D-521FB220D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tr-TR" dirty="0"/>
              <a:t>Senaryo A (Kuzey Kapı): 10 dk simülasyon, 5 rota talebi</a:t>
            </a:r>
          </a:p>
          <a:p>
            <a:r>
              <a:rPr lang="tr-TR" dirty="0"/>
              <a:t>Senaryo B (Güney Kapı): A ile aynı parametreler, karşılaştırma</a:t>
            </a:r>
          </a:p>
          <a:p>
            <a:r>
              <a:rPr lang="tr-TR" dirty="0"/>
              <a:t>Senaryo C: METERS_PER_BLOCK ve </a:t>
            </a:r>
            <a:r>
              <a:rPr lang="tr-TR" dirty="0" err="1"/>
              <a:t>p_enter</a:t>
            </a:r>
            <a:r>
              <a:rPr lang="tr-TR" dirty="0"/>
              <a:t> varyasyonları</a:t>
            </a:r>
          </a:p>
        </p:txBody>
      </p:sp>
      <p:cxnSp>
        <p:nvCxnSpPr>
          <p:cNvPr id="8202" name="Straight Connector 820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514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4" name="Rectangle 9223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ADBBB4E-5EBF-C6FA-D10C-B216F99BB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tr-TR" dirty="0"/>
              <a:t>Değerlendirme Ölçütleri</a:t>
            </a:r>
          </a:p>
        </p:txBody>
      </p:sp>
      <p:pic>
        <p:nvPicPr>
          <p:cNvPr id="9219" name="Picture 3" descr="Smart Car Parking Finder Application: Parking System for Smart Cities">
            <a:extLst>
              <a:ext uri="{FF2B5EF4-FFF2-40B4-BE49-F238E27FC236}">
                <a16:creationId xmlns:a16="http://schemas.microsoft.com/office/drawing/2014/main" id="{091F62AE-6F50-00CB-FB7B-A80899962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256287"/>
            <a:ext cx="4273249" cy="376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3DC9CB4-4F4E-C7DF-6613-1FE21EB7D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tr-TR" sz="1900"/>
              <a:t>RO (</a:t>
            </a:r>
            <a:r>
              <a:rPr lang="tr-TR" sz="1900" err="1"/>
              <a:t>Route</a:t>
            </a:r>
            <a:r>
              <a:rPr lang="tr-TR" sz="1900"/>
              <a:t> </a:t>
            </a:r>
            <a:r>
              <a:rPr lang="tr-TR" sz="1900" err="1"/>
              <a:t>Optimality</a:t>
            </a:r>
            <a:r>
              <a:rPr lang="tr-TR" sz="1900"/>
              <a:t>): Üretilen blok / teorik en kısa blok</a:t>
            </a:r>
          </a:p>
          <a:p>
            <a:r>
              <a:rPr lang="tr-TR" sz="1900" err="1"/>
              <a:t>Latency</a:t>
            </a:r>
            <a:r>
              <a:rPr lang="tr-TR" sz="1900"/>
              <a:t>: Rota hesaplama &amp; çizim süresi (</a:t>
            </a:r>
            <a:r>
              <a:rPr lang="tr-TR" sz="1900" err="1"/>
              <a:t>ms</a:t>
            </a:r>
            <a:r>
              <a:rPr lang="tr-TR" sz="1900"/>
              <a:t>)</a:t>
            </a:r>
          </a:p>
          <a:p>
            <a:r>
              <a:rPr lang="tr-TR" sz="1900" err="1"/>
              <a:t>Throughput</a:t>
            </a:r>
            <a:r>
              <a:rPr lang="tr-TR" sz="1900"/>
              <a:t>: Olay/saniye</a:t>
            </a:r>
          </a:p>
          <a:p>
            <a:r>
              <a:rPr lang="tr-TR" sz="1900" err="1"/>
              <a:t>Usability</a:t>
            </a:r>
            <a:r>
              <a:rPr lang="tr-TR" sz="1900"/>
              <a:t>: En yakın yer </a:t>
            </a:r>
            <a:r>
              <a:rPr lang="tr-TR" sz="1900" err="1"/>
              <a:t>algılanabilirliği</a:t>
            </a:r>
            <a:r>
              <a:rPr lang="tr-TR" sz="1900"/>
              <a:t>, rotanın anlaşılabilirliği</a:t>
            </a:r>
          </a:p>
          <a:p>
            <a:r>
              <a:rPr lang="tr-TR" sz="1900"/>
              <a:t>(Saha) TPR/TNR: Doğru pozitif/negatif oranları</a:t>
            </a:r>
          </a:p>
        </p:txBody>
      </p:sp>
      <p:cxnSp>
        <p:nvCxnSpPr>
          <p:cNvPr id="9226" name="Straight Connector 9225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519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8758CED-A5B4-A080-96A5-D37B7E776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Sonuçların Özeti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8E4104F-111D-72B8-17FB-3A0D2A214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Kuzey Kapı: Rota üretim süresi ~40–60 </a:t>
            </a:r>
            <a:r>
              <a:rPr lang="tr-TR" dirty="0" err="1"/>
              <a:t>ms</a:t>
            </a:r>
            <a:endParaRPr lang="tr-TR" dirty="0"/>
          </a:p>
          <a:p>
            <a:r>
              <a:rPr lang="tr-TR" dirty="0"/>
              <a:t>Güney Kapı: Ortalama rota mesafesi %12 daha uzun</a:t>
            </a:r>
          </a:p>
          <a:p>
            <a:r>
              <a:rPr lang="tr-TR" dirty="0"/>
              <a:t>Parametre değişiminde: blok uzadıkça mesafe lineer artar; </a:t>
            </a:r>
            <a:r>
              <a:rPr lang="tr-TR" dirty="0" err="1"/>
              <a:t>p_enter</a:t>
            </a:r>
            <a:r>
              <a:rPr lang="tr-TR" dirty="0"/>
              <a:t> doluluk dağılımını doğrudan etkiler</a:t>
            </a:r>
          </a:p>
        </p:txBody>
      </p:sp>
    </p:spTree>
    <p:extLst>
      <p:ext uri="{BB962C8B-B14F-4D97-AF65-F5344CB8AC3E}">
        <p14:creationId xmlns:p14="http://schemas.microsoft.com/office/powerpoint/2010/main" val="2172964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2" name="Rectangle 11271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70FA46A-89C8-66E2-B114-D53CCCAAC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tr-TR" dirty="0"/>
              <a:t>Literatüre ve Tasarıma Uyum</a:t>
            </a:r>
          </a:p>
        </p:txBody>
      </p:sp>
      <p:pic>
        <p:nvPicPr>
          <p:cNvPr id="11267" name="Picture 3" descr="IoT-powered Smart Parking Systems - DusunIoT">
            <a:extLst>
              <a:ext uri="{FF2B5EF4-FFF2-40B4-BE49-F238E27FC236}">
                <a16:creationId xmlns:a16="http://schemas.microsoft.com/office/drawing/2014/main" id="{FF09583A-7D90-BF2B-0A16-7AC2CAD2C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555022"/>
            <a:ext cx="5648193" cy="3162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C942E02-04F2-ECCC-77FB-3111B9583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tr-TR" dirty="0"/>
              <a:t>Düşük güç haberleşme (</a:t>
            </a:r>
            <a:r>
              <a:rPr lang="tr-TR" dirty="0" err="1"/>
              <a:t>LoRaWAN</a:t>
            </a:r>
            <a:r>
              <a:rPr lang="tr-TR" dirty="0"/>
              <a:t>/NB-</a:t>
            </a:r>
            <a:r>
              <a:rPr lang="tr-TR" dirty="0" err="1"/>
              <a:t>IoT</a:t>
            </a:r>
            <a:r>
              <a:rPr lang="tr-TR" dirty="0"/>
              <a:t>) ile ölçeklenebilirlik/enerji verimliliği</a:t>
            </a:r>
          </a:p>
          <a:p>
            <a:r>
              <a:rPr lang="tr-TR" dirty="0"/>
              <a:t>Eğitim odaklı, düşük maliyetli ve taşınabilir prototip yaklaşımı</a:t>
            </a:r>
          </a:p>
        </p:txBody>
      </p:sp>
      <p:cxnSp>
        <p:nvCxnSpPr>
          <p:cNvPr id="11274" name="Straight Connector 11273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712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6" name="Rectangle 12295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FDADBEC-9C55-FE19-F092-16AAC429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tr-TR" dirty="0"/>
              <a:t>Saha Uyarlaması — Önerilen Mimari</a:t>
            </a:r>
          </a:p>
        </p:txBody>
      </p:sp>
      <p:pic>
        <p:nvPicPr>
          <p:cNvPr id="12291" name="Picture 3" descr="IoT-Based Smart Parking System: A Complete Development Guide - Matellio Inc">
            <a:extLst>
              <a:ext uri="{FF2B5EF4-FFF2-40B4-BE49-F238E27FC236}">
                <a16:creationId xmlns:a16="http://schemas.microsoft.com/office/drawing/2014/main" id="{A321614A-C480-2CFF-418E-4EE6BC93D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766830"/>
            <a:ext cx="5648193" cy="273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2FA4DC9-1F99-2BF8-C794-0F9629ECB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tr-TR" dirty="0"/>
              <a:t>ESP32 + HX711 </a:t>
            </a:r>
            <a:r>
              <a:rPr lang="tr-TR" dirty="0" err="1"/>
              <a:t>load-cell</a:t>
            </a:r>
            <a:r>
              <a:rPr lang="tr-TR" dirty="0"/>
              <a:t>; </a:t>
            </a:r>
            <a:r>
              <a:rPr lang="tr-TR" dirty="0" err="1"/>
              <a:t>LoRaWAN</a:t>
            </a:r>
            <a:r>
              <a:rPr lang="tr-TR" dirty="0"/>
              <a:t>/NB-</a:t>
            </a:r>
            <a:r>
              <a:rPr lang="tr-TR" dirty="0" err="1"/>
              <a:t>IoT</a:t>
            </a:r>
            <a:endParaRPr lang="tr-TR" dirty="0"/>
          </a:p>
          <a:p>
            <a:r>
              <a:rPr lang="tr-TR" dirty="0" err="1"/>
              <a:t>Edge-cache</a:t>
            </a:r>
            <a:r>
              <a:rPr lang="tr-TR" dirty="0"/>
              <a:t> (</a:t>
            </a:r>
            <a:r>
              <a:rPr lang="tr-TR" dirty="0" err="1"/>
              <a:t>Redis</a:t>
            </a:r>
            <a:r>
              <a:rPr lang="tr-TR" dirty="0"/>
              <a:t>), MQTT/HTTP, REST/</a:t>
            </a:r>
            <a:r>
              <a:rPr lang="tr-TR" dirty="0" err="1"/>
              <a:t>WebSocket</a:t>
            </a:r>
            <a:endParaRPr lang="tr-TR" dirty="0"/>
          </a:p>
          <a:p>
            <a:r>
              <a:rPr lang="tr-TR" dirty="0"/>
              <a:t>Eğitim prototipinden </a:t>
            </a:r>
            <a:r>
              <a:rPr lang="tr-TR" dirty="0" err="1"/>
              <a:t>PoC’a</a:t>
            </a:r>
            <a:r>
              <a:rPr lang="tr-TR" dirty="0"/>
              <a:t> geçiş için uygun yapı</a:t>
            </a:r>
          </a:p>
        </p:txBody>
      </p:sp>
      <p:cxnSp>
        <p:nvCxnSpPr>
          <p:cNvPr id="12298" name="Straight Connector 12297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829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20" name="Rectangle 1331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3850209-D604-4FF3-9D27-964E27D27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tr-TR" dirty="0"/>
              <a:t>Karşılaşılan Zorluklar</a:t>
            </a:r>
          </a:p>
        </p:txBody>
      </p:sp>
      <p:pic>
        <p:nvPicPr>
          <p:cNvPr id="13315" name="Picture 3" descr="Infographic Smart Parking Systems">
            <a:extLst>
              <a:ext uri="{FF2B5EF4-FFF2-40B4-BE49-F238E27FC236}">
                <a16:creationId xmlns:a16="http://schemas.microsoft.com/office/drawing/2014/main" id="{0B39AFE7-42B0-8C6E-C042-FF4E2778D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256287"/>
            <a:ext cx="5421328" cy="376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8DAA00B-C958-40E9-E808-377D15B28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tr-TR" dirty="0"/>
              <a:t>Sensör kalibrasyonu (sıcaklık, </a:t>
            </a:r>
            <a:r>
              <a:rPr lang="tr-TR" dirty="0" err="1"/>
              <a:t>creep</a:t>
            </a:r>
            <a:r>
              <a:rPr lang="tr-TR" dirty="0"/>
              <a:t>, titreşim; </a:t>
            </a:r>
            <a:r>
              <a:rPr lang="tr-TR" dirty="0" err="1"/>
              <a:t>debounce</a:t>
            </a:r>
            <a:r>
              <a:rPr lang="tr-TR" dirty="0"/>
              <a:t>/adaptif kalibrasyon)</a:t>
            </a:r>
          </a:p>
          <a:p>
            <a:r>
              <a:rPr lang="tr-TR" dirty="0"/>
              <a:t>Kablosuz kapsama (çok katlı yapılarda </a:t>
            </a:r>
            <a:r>
              <a:rPr lang="tr-TR" dirty="0" err="1"/>
              <a:t>gateway</a:t>
            </a:r>
            <a:r>
              <a:rPr lang="tr-TR" dirty="0"/>
              <a:t> yerleşimi)</a:t>
            </a:r>
          </a:p>
          <a:p>
            <a:r>
              <a:rPr lang="tr-TR" dirty="0"/>
              <a:t>Gizlilik/KVKK (maskeleme, anonimleştirme, saklama süreleri)</a:t>
            </a:r>
          </a:p>
          <a:p>
            <a:r>
              <a:rPr lang="tr-TR" dirty="0"/>
              <a:t>Çok kiracılı kullanım, enerji tüketimi</a:t>
            </a:r>
          </a:p>
        </p:txBody>
      </p:sp>
      <p:cxnSp>
        <p:nvCxnSpPr>
          <p:cNvPr id="13322" name="Straight Connector 1332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403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44" name="Rectangle 14343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992F83B-4A2D-970B-F419-C3A48BAED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tr-TR" dirty="0"/>
              <a:t>Yol Haritası</a:t>
            </a:r>
          </a:p>
        </p:txBody>
      </p:sp>
      <p:pic>
        <p:nvPicPr>
          <p:cNvPr id="14339" name="Picture 3" descr="Roadmap Timeline Infographic Report Presentation With Business 6 Icons ...">
            <a:extLst>
              <a:ext uri="{FF2B5EF4-FFF2-40B4-BE49-F238E27FC236}">
                <a16:creationId xmlns:a16="http://schemas.microsoft.com/office/drawing/2014/main" id="{1ED839CB-BFD4-4F9C-C480-F1BE63303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256287"/>
            <a:ext cx="5013945" cy="376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6E06945-EC95-41BF-4B90-EBBCCC5A5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tr-TR" dirty="0" err="1"/>
              <a:t>PoC</a:t>
            </a:r>
            <a:r>
              <a:rPr lang="tr-TR" dirty="0"/>
              <a:t> (10–20 slot), ESP32 + HX711, </a:t>
            </a:r>
            <a:r>
              <a:rPr lang="tr-TR" dirty="0" err="1"/>
              <a:t>LoRaWAN</a:t>
            </a:r>
            <a:r>
              <a:rPr lang="tr-TR" dirty="0"/>
              <a:t>, MQTT</a:t>
            </a:r>
          </a:p>
          <a:p>
            <a:r>
              <a:rPr lang="tr-TR" dirty="0"/>
              <a:t>30 dk ileri doluluk tahmini (harici verilerle)</a:t>
            </a:r>
          </a:p>
          <a:p>
            <a:r>
              <a:rPr lang="tr-TR" dirty="0"/>
              <a:t>Dinamik fiyatlandırma &amp; rezervasyon</a:t>
            </a:r>
          </a:p>
          <a:p>
            <a:r>
              <a:rPr lang="tr-TR" dirty="0"/>
              <a:t>Çok katlı senaryo, 3B görselleştirme</a:t>
            </a:r>
          </a:p>
          <a:p>
            <a:r>
              <a:rPr lang="tr-TR" dirty="0"/>
              <a:t>Veri güvenliği (TLS, OTA, kimlik), ML destekli analitik</a:t>
            </a:r>
          </a:p>
        </p:txBody>
      </p:sp>
      <p:cxnSp>
        <p:nvCxnSpPr>
          <p:cNvPr id="14346" name="Straight Connector 14345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369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68" name="Rectangle 1536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D808894-D9E6-CB5B-9D90-41B1C5FAB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tr-TR" dirty="0"/>
              <a:t>Sonuç</a:t>
            </a:r>
          </a:p>
        </p:txBody>
      </p:sp>
      <p:pic>
        <p:nvPicPr>
          <p:cNvPr id="15363" name="Picture 3" descr="Smart Cities and Urban Technology Concept with Person Using a Smart ...">
            <a:extLst>
              <a:ext uri="{FF2B5EF4-FFF2-40B4-BE49-F238E27FC236}">
                <a16:creationId xmlns:a16="http://schemas.microsoft.com/office/drawing/2014/main" id="{632DFA59-00FC-B32E-D5B7-8331DBDAD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256287"/>
            <a:ext cx="5633646" cy="376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3B5FE4D-9744-7234-7460-27D078DC8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tr-TR" dirty="0"/>
              <a:t>Slot-bazlı algılama + </a:t>
            </a:r>
            <a:r>
              <a:rPr lang="tr-TR" dirty="0" err="1"/>
              <a:t>nearest-first</a:t>
            </a:r>
            <a:r>
              <a:rPr lang="tr-TR" dirty="0"/>
              <a:t> + L-rotası = işlevsel çekirdek</a:t>
            </a:r>
          </a:p>
          <a:p>
            <a:r>
              <a:rPr lang="tr-TR" dirty="0"/>
              <a:t>Gerçek zamanlı yönlendirme: ~40–60 </a:t>
            </a:r>
            <a:r>
              <a:rPr lang="tr-TR" dirty="0" err="1"/>
              <a:t>ms</a:t>
            </a:r>
            <a:endParaRPr lang="tr-TR" dirty="0"/>
          </a:p>
          <a:p>
            <a:r>
              <a:rPr lang="tr-TR" dirty="0"/>
              <a:t>Düşük maliyetli, taşınabilir, </a:t>
            </a:r>
            <a:r>
              <a:rPr lang="tr-TR" dirty="0" err="1"/>
              <a:t>Colab</a:t>
            </a:r>
            <a:r>
              <a:rPr lang="tr-TR" dirty="0"/>
              <a:t> uyumlu prototip</a:t>
            </a:r>
          </a:p>
        </p:txBody>
      </p:sp>
      <p:cxnSp>
        <p:nvCxnSpPr>
          <p:cNvPr id="15370" name="Straight Connector 15369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108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2F56D34-BCDF-3BBD-5C73-1D946B4BF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Demo Akışı (Varsa Canlı Gösterim İçin)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CB9045E-58AF-12BF-8266-57D15AF4A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“Başlat” komutu ile olay üretimi</a:t>
            </a:r>
          </a:p>
          <a:p>
            <a:r>
              <a:rPr lang="tr-TR" dirty="0"/>
              <a:t>Doluluk görselleştirmesi ve en yakın slot işaretleme</a:t>
            </a:r>
          </a:p>
          <a:p>
            <a:r>
              <a:rPr lang="tr-TR" dirty="0"/>
              <a:t>L-şekilli rotanın blok sayısı ve metre karşılığı</a:t>
            </a:r>
          </a:p>
        </p:txBody>
      </p:sp>
    </p:spTree>
    <p:extLst>
      <p:ext uri="{BB962C8B-B14F-4D97-AF65-F5344CB8AC3E}">
        <p14:creationId xmlns:p14="http://schemas.microsoft.com/office/powerpoint/2010/main" val="211102765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642</Words>
  <Application>Microsoft Office PowerPoint</Application>
  <PresentationFormat>Geniş ekran</PresentationFormat>
  <Paragraphs>77</Paragraphs>
  <Slides>17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0" baseType="lpstr">
      <vt:lpstr>Arial</vt:lpstr>
      <vt:lpstr>Grandview Display</vt:lpstr>
      <vt:lpstr>DashVTI</vt:lpstr>
      <vt:lpstr>Efe Otopark Sistemleri:  Sensörlü Akıllı Otopark Prototipi</vt:lpstr>
      <vt:lpstr>Problem ve Etki </vt:lpstr>
      <vt:lpstr>Çözüm Özeti ve Katkılar</vt:lpstr>
      <vt:lpstr>Sistem Mimarisi (3 Katman)</vt:lpstr>
      <vt:lpstr>Simülasyon Topolojisi ve Dinamikler</vt:lpstr>
      <vt:lpstr>Veri Modeli ve Olay Şeması</vt:lpstr>
      <vt:lpstr>Yer Atama — Nearest-First ve Formülasyon</vt:lpstr>
      <vt:lpstr>Akış (Pseudocode)</vt:lpstr>
      <vt:lpstr>Deney Düzeneği</vt:lpstr>
      <vt:lpstr>Değerlendirme Ölçütleri</vt:lpstr>
      <vt:lpstr>Sonuçların Özeti</vt:lpstr>
      <vt:lpstr>Literatüre ve Tasarıma Uyum</vt:lpstr>
      <vt:lpstr>Saha Uyarlaması — Önerilen Mimari</vt:lpstr>
      <vt:lpstr>Karşılaşılan Zorluklar</vt:lpstr>
      <vt:lpstr>Yol Haritası</vt:lpstr>
      <vt:lpstr>Sonuç</vt:lpstr>
      <vt:lpstr>Demo Akışı (Varsa Canlı Gösterim İçin)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Efe Kaya</dc:creator>
  <cp:lastModifiedBy>Efe Kaya</cp:lastModifiedBy>
  <cp:revision>1</cp:revision>
  <dcterms:created xsi:type="dcterms:W3CDTF">2025-09-09T22:27:02Z</dcterms:created>
  <dcterms:modified xsi:type="dcterms:W3CDTF">2025-09-09T23:08:38Z</dcterms:modified>
</cp:coreProperties>
</file>